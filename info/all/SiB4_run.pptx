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65" r:id="rId4"/>
    <p:sldId id="271" r:id="rId5"/>
    <p:sldId id="273" r:id="rId6"/>
    <p:sldId id="274" r:id="rId7"/>
    <p:sldId id="275" r:id="rId8"/>
    <p:sldId id="278" r:id="rId9"/>
    <p:sldId id="280" r:id="rId10"/>
    <p:sldId id="281" r:id="rId11"/>
    <p:sldId id="267" r:id="rId12"/>
    <p:sldId id="284" r:id="rId13"/>
    <p:sldId id="282" r:id="rId14"/>
    <p:sldId id="268" r:id="rId15"/>
    <p:sldId id="276" r:id="rId16"/>
    <p:sldId id="285" r:id="rId17"/>
    <p:sldId id="286" r:id="rId18"/>
    <p:sldId id="270" r:id="rId19"/>
    <p:sldId id="269" r:id="rId20"/>
    <p:sldId id="257" r:id="rId21"/>
    <p:sldId id="258" r:id="rId22"/>
    <p:sldId id="259" r:id="rId23"/>
    <p:sldId id="260" r:id="rId24"/>
    <p:sldId id="288" r:id="rId25"/>
    <p:sldId id="261" r:id="rId26"/>
    <p:sldId id="289" r:id="rId27"/>
    <p:sldId id="26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698"/>
    <p:restoredTop sz="94618"/>
  </p:normalViewPr>
  <p:slideViewPr>
    <p:cSldViewPr snapToGrid="0" snapToObjects="1">
      <p:cViewPr varScale="1">
        <p:scale>
          <a:sx n="88" d="100"/>
          <a:sy n="88" d="100"/>
        </p:scale>
        <p:origin x="176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C3B10-D81D-F441-A0B6-88951997EC60}" type="datetimeFigureOut">
              <a:rPr lang="en-US" smtClean="0"/>
              <a:t>8/17/19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B4FF-3657-E947-A79C-44DB5D6F8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8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C3B10-D81D-F441-A0B6-88951997EC60}" type="datetimeFigureOut">
              <a:rPr lang="en-US" smtClean="0"/>
              <a:t>8/17/19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B4FF-3657-E947-A79C-44DB5D6F8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28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C3B10-D81D-F441-A0B6-88951997EC60}" type="datetimeFigureOut">
              <a:rPr lang="en-US" smtClean="0"/>
              <a:t>8/17/19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B4FF-3657-E947-A79C-44DB5D6F8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86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C3B10-D81D-F441-A0B6-88951997EC60}" type="datetimeFigureOut">
              <a:rPr lang="en-US" smtClean="0"/>
              <a:t>8/17/19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B4FF-3657-E947-A79C-44DB5D6F8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813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C3B10-D81D-F441-A0B6-88951997EC60}" type="datetimeFigureOut">
              <a:rPr lang="en-US" smtClean="0"/>
              <a:t>8/17/19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B4FF-3657-E947-A79C-44DB5D6F8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43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C3B10-D81D-F441-A0B6-88951997EC60}" type="datetimeFigureOut">
              <a:rPr lang="en-US" smtClean="0"/>
              <a:t>8/17/19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B4FF-3657-E947-A79C-44DB5D6F8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14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C3B10-D81D-F441-A0B6-88951997EC60}" type="datetimeFigureOut">
              <a:rPr lang="en-US" smtClean="0"/>
              <a:t>8/17/19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B4FF-3657-E947-A79C-44DB5D6F8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52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C3B10-D81D-F441-A0B6-88951997EC60}" type="datetimeFigureOut">
              <a:rPr lang="en-US" smtClean="0"/>
              <a:t>8/17/19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B4FF-3657-E947-A79C-44DB5D6F8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65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C3B10-D81D-F441-A0B6-88951997EC60}" type="datetimeFigureOut">
              <a:rPr lang="en-US" smtClean="0"/>
              <a:t>8/17/19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B4FF-3657-E947-A79C-44DB5D6F8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97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C3B10-D81D-F441-A0B6-88951997EC60}" type="datetimeFigureOut">
              <a:rPr lang="en-US" smtClean="0"/>
              <a:t>8/17/19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B4FF-3657-E947-A79C-44DB5D6F8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32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C3B10-D81D-F441-A0B6-88951997EC60}" type="datetimeFigureOut">
              <a:rPr lang="en-US" smtClean="0"/>
              <a:t>8/17/19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B4FF-3657-E947-A79C-44DB5D6F8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8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C3B10-D81D-F441-A0B6-88951997EC60}" type="datetimeFigureOut">
              <a:rPr lang="en-US" smtClean="0"/>
              <a:t>8/17/19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EB4FF-3657-E947-A79C-44DB5D6F8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2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1293" y="100198"/>
            <a:ext cx="694540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The Simple Biosphere Model: SiB4</a:t>
            </a:r>
          </a:p>
          <a:p>
            <a:pPr algn="ctr"/>
            <a:r>
              <a:rPr lang="en-US" dirty="0">
                <a:latin typeface="Helvetica"/>
                <a:cs typeface="Helvetica"/>
              </a:rPr>
              <a:t>Updated Aug 17, 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524" y="1454963"/>
            <a:ext cx="66956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u="sng" dirty="0" err="1"/>
              <a:t>GitLab</a:t>
            </a:r>
            <a:r>
              <a:rPr lang="en-US" sz="2600" u="sng" dirty="0"/>
              <a:t>:</a:t>
            </a:r>
          </a:p>
          <a:p>
            <a:r>
              <a:rPr lang="en-US" dirty="0"/>
              <a:t>git clone https://</a:t>
            </a:r>
            <a:r>
              <a:rPr lang="en-US" dirty="0" err="1"/>
              <a:t>USERNAME@gitlab.com</a:t>
            </a:r>
            <a:r>
              <a:rPr lang="en-US" dirty="0"/>
              <a:t>/</a:t>
            </a:r>
            <a:r>
              <a:rPr lang="en-US" dirty="0" err="1"/>
              <a:t>kdhaynes</a:t>
            </a:r>
            <a:r>
              <a:rPr lang="en-US" dirty="0"/>
              <a:t>/sib4v2_corral.git 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918265" y="1233473"/>
            <a:ext cx="6968435" cy="441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516D195-EFA6-0149-8FAC-F975C4154439}"/>
              </a:ext>
            </a:extLst>
          </p:cNvPr>
          <p:cNvSpPr txBox="1"/>
          <p:nvPr/>
        </p:nvSpPr>
        <p:spPr>
          <a:xfrm>
            <a:off x="3549325" y="3045851"/>
            <a:ext cx="17808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55 MB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14 Directories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201B69B-329B-6C42-9DB0-1CFB20D2E103}"/>
              </a:ext>
            </a:extLst>
          </p:cNvPr>
          <p:cNvCxnSpPr/>
          <p:nvPr/>
        </p:nvCxnSpPr>
        <p:spPr>
          <a:xfrm flipV="1">
            <a:off x="918264" y="2487124"/>
            <a:ext cx="6968435" cy="441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DCD9464-1406-A24F-AF41-806474FE79C2}"/>
              </a:ext>
            </a:extLst>
          </p:cNvPr>
          <p:cNvSpPr txBox="1"/>
          <p:nvPr/>
        </p:nvSpPr>
        <p:spPr>
          <a:xfrm>
            <a:off x="3512077" y="2604091"/>
            <a:ext cx="1857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/>
              <a:t>sib4v2_corral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FA1819-F3A9-344E-ABDF-E27CA6A88108}"/>
              </a:ext>
            </a:extLst>
          </p:cNvPr>
          <p:cNvSpPr txBox="1"/>
          <p:nvPr/>
        </p:nvSpPr>
        <p:spPr>
          <a:xfrm>
            <a:off x="2194695" y="4415182"/>
            <a:ext cx="121103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u="sng" dirty="0"/>
              <a:t>Running</a:t>
            </a:r>
          </a:p>
          <a:p>
            <a:pPr algn="ctr"/>
            <a:endParaRPr lang="en-US" sz="800" u="sng" dirty="0"/>
          </a:p>
          <a:p>
            <a:pPr marL="342900" indent="-342900" algn="ctr">
              <a:buFont typeface="Wingdings" pitchFamily="2" charset="2"/>
              <a:buChar char="Ø"/>
            </a:pPr>
            <a:r>
              <a:rPr lang="en-US" sz="2000" dirty="0"/>
              <a:t>code   </a:t>
            </a:r>
          </a:p>
          <a:p>
            <a:pPr marL="342900" indent="-342900" algn="ctr">
              <a:buFont typeface="Wingdings" pitchFamily="2" charset="2"/>
              <a:buChar char="Ø"/>
            </a:pPr>
            <a:r>
              <a:rPr lang="en-US" sz="2000" dirty="0"/>
              <a:t>input  </a:t>
            </a:r>
          </a:p>
          <a:p>
            <a:pPr marL="342900" indent="-342900" algn="ctr">
              <a:buFont typeface="Wingdings" pitchFamily="2" charset="2"/>
              <a:buChar char="Ø"/>
            </a:pPr>
            <a:r>
              <a:rPr lang="en-US" sz="2000" dirty="0"/>
              <a:t>scripts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F2F783-C3F9-574C-8A2E-222766CCD323}"/>
              </a:ext>
            </a:extLst>
          </p:cNvPr>
          <p:cNvSpPr txBox="1"/>
          <p:nvPr/>
        </p:nvSpPr>
        <p:spPr>
          <a:xfrm>
            <a:off x="530728" y="4415182"/>
            <a:ext cx="14209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u="sng" dirty="0"/>
              <a:t>Information</a:t>
            </a:r>
          </a:p>
          <a:p>
            <a:pPr algn="ctr"/>
            <a:endParaRPr lang="en-US" sz="800" u="sng" dirty="0"/>
          </a:p>
          <a:p>
            <a:pPr marL="342900" indent="-342900" algn="ctr">
              <a:buFont typeface="Wingdings" pitchFamily="2" charset="2"/>
              <a:buChar char="Ø"/>
            </a:pPr>
            <a:r>
              <a:rPr lang="en-US" sz="2000" dirty="0"/>
              <a:t>info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BA52E8-41D0-F54B-AF24-AB1452642A17}"/>
              </a:ext>
            </a:extLst>
          </p:cNvPr>
          <p:cNvSpPr txBox="1"/>
          <p:nvPr/>
        </p:nvSpPr>
        <p:spPr>
          <a:xfrm>
            <a:off x="3757405" y="4415182"/>
            <a:ext cx="13131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u="sng" dirty="0"/>
              <a:t>Viewing</a:t>
            </a:r>
          </a:p>
          <a:p>
            <a:pPr algn="ctr"/>
            <a:endParaRPr lang="en-US" sz="800" u="sng" dirty="0"/>
          </a:p>
          <a:p>
            <a:pPr marL="285750" indent="-285750" algn="ctr">
              <a:buFont typeface="Wingdings" pitchFamily="2" charset="2"/>
              <a:buChar char="Ø"/>
            </a:pPr>
            <a:r>
              <a:rPr lang="en-US" sz="2000" dirty="0"/>
              <a:t>sib4plot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9110693-12DE-7F4F-8573-E1B784A71633}"/>
              </a:ext>
            </a:extLst>
          </p:cNvPr>
          <p:cNvGrpSpPr/>
          <p:nvPr/>
        </p:nvGrpSpPr>
        <p:grpSpPr>
          <a:xfrm>
            <a:off x="5451776" y="4429469"/>
            <a:ext cx="3348530" cy="2021674"/>
            <a:chOff x="5898191" y="4346327"/>
            <a:chExt cx="3348530" cy="202167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7E360A2-FC2E-864F-8348-4B946985893E}"/>
                </a:ext>
              </a:extLst>
            </p:cNvPr>
            <p:cNvSpPr txBox="1"/>
            <p:nvPr/>
          </p:nvSpPr>
          <p:spPr>
            <a:xfrm>
              <a:off x="5898191" y="4736785"/>
              <a:ext cx="1803955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Wingdings" pitchFamily="2" charset="2"/>
                <a:buChar char="Ø"/>
              </a:pPr>
              <a:r>
                <a:rPr lang="en-US" sz="2000" dirty="0" err="1"/>
                <a:t>tools_data</a:t>
              </a:r>
              <a:endParaRPr lang="en-US" sz="2000" dirty="0"/>
            </a:p>
            <a:p>
              <a:pPr marL="342900" indent="-342900">
                <a:buFont typeface="Wingdings" pitchFamily="2" charset="2"/>
                <a:buChar char="Ø"/>
              </a:pPr>
              <a:r>
                <a:rPr lang="en-US" sz="2000" dirty="0" err="1"/>
                <a:t>tools_eval</a:t>
              </a:r>
              <a:endParaRPr lang="en-US" sz="2000" dirty="0"/>
            </a:p>
            <a:p>
              <a:pPr marL="342900" indent="-342900">
                <a:buFont typeface="Wingdings" pitchFamily="2" charset="2"/>
                <a:buChar char="Ø"/>
              </a:pPr>
              <a:r>
                <a:rPr lang="en-US" sz="2000" dirty="0" err="1"/>
                <a:t>tools_gfed</a:t>
              </a:r>
              <a:endParaRPr lang="en-US" sz="2000" dirty="0"/>
            </a:p>
            <a:p>
              <a:pPr marL="342900" indent="-342900">
                <a:buFont typeface="Wingdings" pitchFamily="2" charset="2"/>
                <a:buChar char="Ø"/>
              </a:pPr>
              <a:r>
                <a:rPr lang="en-US" sz="2000" dirty="0" err="1"/>
                <a:t>tools_gpcp</a:t>
              </a:r>
              <a:endParaRPr lang="en-US" sz="2000" dirty="0"/>
            </a:p>
            <a:p>
              <a:pPr marL="342900" indent="-342900">
                <a:buFont typeface="Wingdings" pitchFamily="2" charset="2"/>
                <a:buChar char="Ø"/>
              </a:pPr>
              <a:r>
                <a:rPr lang="en-US" sz="2000" dirty="0" err="1"/>
                <a:t>tools_merra</a:t>
              </a:r>
              <a:endParaRPr lang="en-US" sz="20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6C35B28-813E-9141-A5E3-B2D62A7F38B4}"/>
                </a:ext>
              </a:extLst>
            </p:cNvPr>
            <p:cNvSpPr txBox="1"/>
            <p:nvPr/>
          </p:nvSpPr>
          <p:spPr>
            <a:xfrm>
              <a:off x="7563311" y="4736785"/>
              <a:ext cx="1683410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Wingdings" pitchFamily="2" charset="2"/>
                <a:buChar char="Ø"/>
              </a:pPr>
              <a:r>
                <a:rPr lang="en-US" sz="2000" dirty="0" err="1"/>
                <a:t>tools_misc</a:t>
              </a:r>
              <a:endParaRPr lang="en-US" sz="2000" dirty="0"/>
            </a:p>
            <a:p>
              <a:pPr marL="342900" indent="-342900">
                <a:buFont typeface="Wingdings" pitchFamily="2" charset="2"/>
                <a:buChar char="Ø"/>
              </a:pPr>
              <a:r>
                <a:rPr lang="en-US" sz="2000" dirty="0" err="1"/>
                <a:t>tools_post</a:t>
              </a:r>
              <a:endParaRPr lang="en-US" sz="2000" dirty="0"/>
            </a:p>
            <a:p>
              <a:pPr marL="342900" indent="-342900">
                <a:buFont typeface="Wingdings" pitchFamily="2" charset="2"/>
                <a:buChar char="Ø"/>
              </a:pPr>
              <a:r>
                <a:rPr lang="en-US" sz="2000" dirty="0" err="1"/>
                <a:t>tools_pre</a:t>
              </a:r>
              <a:endParaRPr lang="en-US" sz="2000" dirty="0"/>
            </a:p>
            <a:p>
              <a:pPr marL="342900" indent="-342900">
                <a:buFont typeface="Wingdings" pitchFamily="2" charset="2"/>
                <a:buChar char="Ø"/>
              </a:pPr>
              <a:r>
                <a:rPr lang="en-US" sz="2000" dirty="0" err="1"/>
                <a:t>tools_sinks</a:t>
              </a:r>
              <a:endParaRPr lang="en-US" sz="20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05D52A7-E5C6-A24F-A654-DEC2C2D559BC}"/>
                </a:ext>
              </a:extLst>
            </p:cNvPr>
            <p:cNvSpPr txBox="1"/>
            <p:nvPr/>
          </p:nvSpPr>
          <p:spPr>
            <a:xfrm>
              <a:off x="7098732" y="4346327"/>
              <a:ext cx="7165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u="sng" dirty="0"/>
                <a:t>Tools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8854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25512" y="101119"/>
            <a:ext cx="3279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Compiling SiB4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1890" y="627179"/>
            <a:ext cx="694715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11430">
              <a:buFont typeface="Arial" panose="020B0604020202020204" pitchFamily="34" charset="0"/>
              <a:buChar char="•"/>
            </a:pPr>
            <a:r>
              <a:rPr lang="en-US" dirty="0"/>
              <a:t>  Change to the 'code' directory</a:t>
            </a:r>
          </a:p>
          <a:p>
            <a:pPr marL="285750" indent="-11430">
              <a:buFont typeface="Arial" panose="020B0604020202020204" pitchFamily="34" charset="0"/>
              <a:buChar char="•"/>
            </a:pPr>
            <a:r>
              <a:rPr lang="en-US" dirty="0"/>
              <a:t>  Edit the </a:t>
            </a:r>
            <a:r>
              <a:rPr lang="en-US" dirty="0" err="1"/>
              <a:t>Makefile</a:t>
            </a:r>
            <a:r>
              <a:rPr lang="en-US" dirty="0"/>
              <a:t> for any necessary computer/system specifications</a:t>
            </a:r>
          </a:p>
          <a:p>
            <a:pPr marL="274320"/>
            <a:r>
              <a:rPr lang="en-US" dirty="0"/>
              <a:t>      -&gt; LAPACK</a:t>
            </a:r>
          </a:p>
          <a:p>
            <a:pPr marL="274320"/>
            <a:r>
              <a:rPr lang="en-US" dirty="0"/>
              <a:t>      -&gt; NETCDF (and HDF for NETCDF4 compression)</a:t>
            </a:r>
          </a:p>
          <a:p>
            <a:pPr marL="283464">
              <a:buFont typeface="Arial" panose="020B0604020202020204" pitchFamily="34" charset="0"/>
              <a:buChar char="•"/>
            </a:pPr>
            <a:r>
              <a:rPr lang="en-US" dirty="0"/>
              <a:t>  At the prompt, type 'make’</a:t>
            </a:r>
          </a:p>
          <a:p>
            <a:pPr marL="283464"/>
            <a:r>
              <a:rPr lang="en-US" dirty="0"/>
              <a:t>      -&gt; Compiler: GNU’s </a:t>
            </a:r>
            <a:r>
              <a:rPr lang="en-US" dirty="0" err="1"/>
              <a:t>gfortran</a:t>
            </a:r>
            <a:r>
              <a:rPr lang="en-US" dirty="0"/>
              <a:t> (default), </a:t>
            </a:r>
          </a:p>
          <a:p>
            <a:pPr marL="283464"/>
            <a:r>
              <a:rPr lang="en-US" dirty="0"/>
              <a:t>           Portland Group (COMPILER=</a:t>
            </a:r>
            <a:r>
              <a:rPr lang="en-US" dirty="0" err="1"/>
              <a:t>pgi</a:t>
            </a:r>
            <a:r>
              <a:rPr lang="en-US" dirty="0"/>
              <a:t>), Intel (COMPILER=</a:t>
            </a:r>
            <a:r>
              <a:rPr lang="en-US" dirty="0" err="1"/>
              <a:t>ifort</a:t>
            </a:r>
            <a:r>
              <a:rPr lang="en-US" dirty="0"/>
              <a:t>)</a:t>
            </a:r>
          </a:p>
          <a:p>
            <a:pPr marL="283464"/>
            <a:r>
              <a:rPr lang="en-US" dirty="0"/>
              <a:t>      -&gt; Optimization: Optimized (O2, default),</a:t>
            </a:r>
          </a:p>
          <a:p>
            <a:pPr marL="283464"/>
            <a:r>
              <a:rPr lang="en-US" dirty="0"/>
              <a:t>            Debugging (OPT=debug)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672BC4-F971-9C44-B0D8-9789C0E989F4}"/>
              </a:ext>
            </a:extLst>
          </p:cNvPr>
          <p:cNvSpPr txBox="1"/>
          <p:nvPr/>
        </p:nvSpPr>
        <p:spPr>
          <a:xfrm>
            <a:off x="1043406" y="5885067"/>
            <a:ext cx="6862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>
              <a:buFont typeface="Arial" panose="020B0604020202020204" pitchFamily="34" charset="0"/>
              <a:buChar char="•"/>
            </a:pPr>
            <a:r>
              <a:rPr lang="en-US" dirty="0"/>
              <a:t>  Compiles all objects and links necessary objects/libraries</a:t>
            </a:r>
          </a:p>
          <a:p>
            <a:pPr marL="285750">
              <a:buFont typeface="Arial" panose="020B0604020202020204" pitchFamily="34" charset="0"/>
              <a:buChar char="•"/>
            </a:pPr>
            <a:r>
              <a:rPr lang="en-US" dirty="0"/>
              <a:t>  Creates the executable SiB4D</a:t>
            </a:r>
          </a:p>
          <a:p>
            <a:pPr marL="285750">
              <a:buFont typeface="Arial" panose="020B0604020202020204" pitchFamily="34" charset="0"/>
              <a:buChar char="•"/>
            </a:pPr>
            <a:r>
              <a:rPr lang="en-US" dirty="0"/>
              <a:t>  Finishes with the message: "Finished building == SiB4D"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AF6751-CB10-3C4B-B6CC-318465B7D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031" y="3320461"/>
            <a:ext cx="7124700" cy="24257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EB19D00-8373-2341-B968-CD1641F2C73D}"/>
              </a:ext>
            </a:extLst>
          </p:cNvPr>
          <p:cNvCxnSpPr/>
          <p:nvPr/>
        </p:nvCxnSpPr>
        <p:spPr>
          <a:xfrm>
            <a:off x="995031" y="3263088"/>
            <a:ext cx="7124700" cy="0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CFB5DB-6E1B-2C48-AE43-2E19AF562ED3}"/>
              </a:ext>
            </a:extLst>
          </p:cNvPr>
          <p:cNvCxnSpPr/>
          <p:nvPr/>
        </p:nvCxnSpPr>
        <p:spPr>
          <a:xfrm>
            <a:off x="995031" y="5746161"/>
            <a:ext cx="7124700" cy="0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400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02425" y="185633"/>
            <a:ext cx="297069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Running SiB4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1859" y="847664"/>
            <a:ext cx="8600281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>
              <a:buFont typeface="Arial" panose="020B0604020202020204" pitchFamily="34" charset="0"/>
              <a:buChar char="•"/>
            </a:pPr>
            <a:r>
              <a:rPr lang="en-US" dirty="0"/>
              <a:t>  Move the executable from the 'code’ directory to the main directory</a:t>
            </a:r>
          </a:p>
          <a:p>
            <a:pPr marL="285750"/>
            <a:endParaRPr lang="en-US" dirty="0"/>
          </a:p>
          <a:p>
            <a:pPr marL="285750">
              <a:buFont typeface="Arial" panose="020B0604020202020204" pitchFamily="34" charset="0"/>
              <a:buChar char="•"/>
            </a:pPr>
            <a:r>
              <a:rPr lang="en-US" dirty="0"/>
              <a:t>  Move a name-list (</a:t>
            </a:r>
            <a:r>
              <a:rPr lang="en-US" dirty="0" err="1"/>
              <a:t>namel_sibdrv</a:t>
            </a:r>
            <a:r>
              <a:rPr lang="en-US" dirty="0"/>
              <a:t>) containing the simulation specifications into the </a:t>
            </a:r>
          </a:p>
          <a:p>
            <a:pPr marL="285750"/>
            <a:r>
              <a:rPr lang="en-US" dirty="0"/>
              <a:t>    main directory</a:t>
            </a:r>
          </a:p>
          <a:p>
            <a:pPr marL="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>
              <a:buFont typeface="Arial" panose="020B0604020202020204" pitchFamily="34" charset="0"/>
              <a:buChar char="•"/>
            </a:pPr>
            <a:r>
              <a:rPr lang="en-US" dirty="0"/>
              <a:t>  Edit the name-list to specify simulation details/options</a:t>
            </a:r>
          </a:p>
          <a:p>
            <a:pPr marL="285750"/>
            <a:r>
              <a:rPr lang="en-US" dirty="0"/>
              <a:t>    (all generic </a:t>
            </a:r>
            <a:r>
              <a:rPr lang="en-US" dirty="0" err="1"/>
              <a:t>namel_sibdrv</a:t>
            </a:r>
            <a:r>
              <a:rPr lang="en-US" dirty="0"/>
              <a:t> files use local references from the main directory)</a:t>
            </a:r>
          </a:p>
          <a:p>
            <a:pPr marL="285750"/>
            <a:endParaRPr lang="en-US" dirty="0"/>
          </a:p>
          <a:p>
            <a:r>
              <a:rPr lang="en-US" dirty="0"/>
              <a:t>          Option 1) Site Simulations</a:t>
            </a:r>
          </a:p>
          <a:p>
            <a:r>
              <a:rPr lang="en-US" sz="1600" dirty="0"/>
              <a:t>               - Change into the ‘info/sites’ directory</a:t>
            </a:r>
          </a:p>
          <a:p>
            <a:r>
              <a:rPr lang="en-US" sz="1600" dirty="0"/>
              <a:t>               - Copy the generic </a:t>
            </a:r>
            <a:r>
              <a:rPr lang="en-US" sz="1600" dirty="0" err="1"/>
              <a:t>namel_sibdrv</a:t>
            </a:r>
            <a:r>
              <a:rPr lang="en-US" sz="1600" dirty="0"/>
              <a:t> file into the main directory</a:t>
            </a:r>
          </a:p>
          <a:p>
            <a:r>
              <a:rPr lang="en-US" sz="1600" dirty="0"/>
              <a:t>               - Edit the </a:t>
            </a:r>
            <a:r>
              <a:rPr lang="en-US" sz="1600" dirty="0" err="1"/>
              <a:t>namel_sibdrv</a:t>
            </a:r>
            <a:r>
              <a:rPr lang="en-US" sz="1600" dirty="0"/>
              <a:t> file, replacing the XX site identifiers with a specific site                                     </a:t>
            </a:r>
          </a:p>
          <a:p>
            <a:r>
              <a:rPr lang="en-US" sz="1600" dirty="0"/>
              <a:t>               - Sample site simulation in ‘info/sites/</a:t>
            </a:r>
            <a:r>
              <a:rPr lang="en-US" sz="1600" dirty="0" err="1"/>
              <a:t>sample.tgz</a:t>
            </a:r>
            <a:r>
              <a:rPr lang="en-US" sz="1600" dirty="0"/>
              <a:t>’</a:t>
            </a:r>
          </a:p>
          <a:p>
            <a:endParaRPr lang="en-US" dirty="0"/>
          </a:p>
          <a:p>
            <a:r>
              <a:rPr lang="en-US" dirty="0"/>
              <a:t>          Option 2) Group Simulations</a:t>
            </a:r>
          </a:p>
          <a:p>
            <a:r>
              <a:rPr lang="en-US" sz="1600" dirty="0"/>
              <a:t>               - Change into the ‘info/groups’ directory</a:t>
            </a:r>
          </a:p>
          <a:p>
            <a:r>
              <a:rPr lang="en-US" sz="1600" dirty="0"/>
              <a:t>               - Copy the generic </a:t>
            </a:r>
            <a:r>
              <a:rPr lang="en-US" sz="1600" dirty="0" err="1"/>
              <a:t>namel_sibdrv</a:t>
            </a:r>
            <a:r>
              <a:rPr lang="en-US" sz="1600" dirty="0"/>
              <a:t> file into the main directory</a:t>
            </a:r>
          </a:p>
          <a:p>
            <a:r>
              <a:rPr lang="en-US" sz="1600" dirty="0"/>
              <a:t>               - Edit the </a:t>
            </a:r>
            <a:r>
              <a:rPr lang="en-US" sz="1600" dirty="0" err="1"/>
              <a:t>namel_sibdrv</a:t>
            </a:r>
            <a:r>
              <a:rPr lang="en-US" sz="1600" dirty="0"/>
              <a:t> file, replacing the number of points and directory information</a:t>
            </a:r>
          </a:p>
          <a:p>
            <a:endParaRPr lang="en-US" sz="1600" dirty="0"/>
          </a:p>
          <a:p>
            <a:r>
              <a:rPr lang="en-US" dirty="0"/>
              <a:t>          Option 3) Global Simulations (0.5 x 0.5 degrees)</a:t>
            </a:r>
          </a:p>
          <a:p>
            <a:r>
              <a:rPr lang="en-US" sz="1600" dirty="0"/>
              <a:t>              - Change into the ‘info/global’ directory</a:t>
            </a:r>
          </a:p>
          <a:p>
            <a:r>
              <a:rPr lang="en-US" sz="1600" dirty="0"/>
              <a:t>              - Copy the </a:t>
            </a:r>
            <a:r>
              <a:rPr lang="en-US" sz="1600" dirty="0" err="1"/>
              <a:t>namel_sibdrv</a:t>
            </a:r>
            <a:r>
              <a:rPr lang="en-US" sz="1600" dirty="0"/>
              <a:t> file into the main directory</a:t>
            </a:r>
          </a:p>
        </p:txBody>
      </p:sp>
    </p:spTree>
    <p:extLst>
      <p:ext uri="{BB962C8B-B14F-4D97-AF65-F5344CB8AC3E}">
        <p14:creationId xmlns:p14="http://schemas.microsoft.com/office/powerpoint/2010/main" val="314966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1466" y="120864"/>
            <a:ext cx="52595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SiB4 Name List:</a:t>
            </a:r>
          </a:p>
          <a:p>
            <a:r>
              <a:rPr lang="en-US" sz="2800" b="1" dirty="0">
                <a:latin typeface="Helvetica"/>
                <a:cs typeface="Helvetica"/>
              </a:rPr>
              <a:t>Simulation Control Options</a:t>
            </a:r>
            <a:endParaRPr lang="en-US" sz="2800" dirty="0">
              <a:latin typeface="Helvetica"/>
              <a:cs typeface="Helvetic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5592" y="2502447"/>
            <a:ext cx="3678210" cy="58477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/>
              <a:t>starttime</a:t>
            </a:r>
            <a:r>
              <a:rPr lang="en-US" sz="1600" dirty="0"/>
              <a:t> = Day of year to start simulation</a:t>
            </a:r>
          </a:p>
          <a:p>
            <a:pPr algn="ctr"/>
            <a:r>
              <a:rPr lang="en-US" sz="1600" dirty="0" err="1"/>
              <a:t>startyear</a:t>
            </a:r>
            <a:r>
              <a:rPr lang="en-US" sz="1600" dirty="0"/>
              <a:t> = Year to start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088" y="1376660"/>
            <a:ext cx="359991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nsib</a:t>
            </a:r>
            <a:r>
              <a:rPr lang="en-US" sz="1600" dirty="0"/>
              <a:t> = number of points to simulate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45189" y="3565773"/>
            <a:ext cx="3642727" cy="320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u="sng" dirty="0"/>
              <a:t>Diagnostic Output Frequency Information</a:t>
            </a:r>
          </a:p>
          <a:p>
            <a:pPr algn="ctr"/>
            <a:r>
              <a:rPr lang="en-US" sz="1600" dirty="0"/>
              <a:t>&gt; 0 in units of seconds</a:t>
            </a:r>
          </a:p>
          <a:p>
            <a:pPr algn="ctr"/>
            <a:r>
              <a:rPr lang="en-US" sz="1600" dirty="0"/>
              <a:t>&lt; 0 in units of months</a:t>
            </a:r>
          </a:p>
          <a:p>
            <a:pPr algn="ctr"/>
            <a:r>
              <a:rPr lang="en-US" sz="1600" dirty="0"/>
              <a:t>0=no output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– Three Types of Diagnostic Output –</a:t>
            </a:r>
          </a:p>
          <a:p>
            <a:pPr marL="285750" indent="-285750" algn="ctr">
              <a:buFontTx/>
              <a:buChar char="-"/>
            </a:pPr>
            <a:endParaRPr lang="en-US" sz="1400" dirty="0">
              <a:ea typeface="Wingdings"/>
              <a:cs typeface="Wingdings"/>
              <a:sym typeface="Wingdings"/>
            </a:endParaRPr>
          </a:p>
          <a:p>
            <a:pPr marL="285750" indent="-285750" algn="ctr">
              <a:buFontTx/>
              <a:buChar char="-"/>
            </a:pPr>
            <a:endParaRPr lang="en-US" sz="1400" dirty="0">
              <a:ea typeface="Wingdings"/>
              <a:cs typeface="Wingdings"/>
              <a:sym typeface="Wingdings"/>
            </a:endParaRPr>
          </a:p>
          <a:p>
            <a:pPr algn="ctr"/>
            <a:endParaRPr lang="en-US" sz="1400" dirty="0">
              <a:ea typeface="Wingdings"/>
              <a:cs typeface="Wingdings"/>
              <a:sym typeface="Wingdings"/>
            </a:endParaRPr>
          </a:p>
          <a:p>
            <a:pPr algn="ctr"/>
            <a:endParaRPr lang="en-US" sz="1600" dirty="0">
              <a:ea typeface="Wingdings"/>
              <a:cs typeface="Wingdings"/>
              <a:sym typeface="Wingdings"/>
            </a:endParaRPr>
          </a:p>
          <a:p>
            <a:pPr algn="ctr"/>
            <a:r>
              <a:rPr lang="en-US" sz="1600" dirty="0" err="1">
                <a:ea typeface="Wingdings"/>
                <a:cs typeface="Wingdings"/>
                <a:sym typeface="Wingdings"/>
              </a:rPr>
              <a:t>dtsibqp</a:t>
            </a:r>
            <a:r>
              <a:rPr lang="en-US" sz="1600" dirty="0">
                <a:ea typeface="Wingdings"/>
                <a:cs typeface="Wingdings"/>
                <a:sym typeface="Wingdings"/>
              </a:rPr>
              <a:t> = QP Output Interval</a:t>
            </a:r>
          </a:p>
          <a:p>
            <a:pPr algn="ctr"/>
            <a:r>
              <a:rPr lang="en-US" sz="1600" dirty="0" err="1">
                <a:ea typeface="Wingdings"/>
                <a:cs typeface="Wingdings"/>
                <a:sym typeface="Wingdings"/>
              </a:rPr>
              <a:t>dtsibpbp</a:t>
            </a:r>
            <a:r>
              <a:rPr lang="en-US" sz="1600" dirty="0">
                <a:ea typeface="Wingdings"/>
                <a:cs typeface="Wingdings"/>
                <a:sym typeface="Wingdings"/>
              </a:rPr>
              <a:t> = PBP Output Interval</a:t>
            </a:r>
          </a:p>
          <a:p>
            <a:pPr algn="ctr"/>
            <a:r>
              <a:rPr lang="en-US" sz="1600" dirty="0" err="1">
                <a:ea typeface="Wingdings"/>
                <a:cs typeface="Wingdings"/>
                <a:sym typeface="Wingdings"/>
              </a:rPr>
              <a:t>dtsibhr</a:t>
            </a:r>
            <a:r>
              <a:rPr lang="en-US" sz="1600" dirty="0">
                <a:ea typeface="Wingdings"/>
                <a:cs typeface="Wingdings"/>
                <a:sym typeface="Wingdings"/>
              </a:rPr>
              <a:t> = HR Output Interval</a:t>
            </a:r>
          </a:p>
        </p:txBody>
      </p:sp>
      <p:pic>
        <p:nvPicPr>
          <p:cNvPr id="2" name="Picture 1" descr="Screen shot 2015-12-03 at 2.22.0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612" y="518494"/>
            <a:ext cx="2717800" cy="26670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Straight Arrow Connector 10"/>
          <p:cNvCxnSpPr/>
          <p:nvPr/>
        </p:nvCxnSpPr>
        <p:spPr>
          <a:xfrm flipH="1">
            <a:off x="3424986" y="813216"/>
            <a:ext cx="2711450" cy="549175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2811343" y="1155783"/>
            <a:ext cx="3325093" cy="1269934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553941" y="1569581"/>
            <a:ext cx="2582496" cy="2154607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2682906" y="1840691"/>
            <a:ext cx="3453531" cy="2853784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697" y="3759467"/>
            <a:ext cx="3369833" cy="58477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/>
              <a:t>endtime</a:t>
            </a:r>
            <a:r>
              <a:rPr lang="en-US" sz="1600" dirty="0"/>
              <a:t> = Last day of year to simulate</a:t>
            </a:r>
          </a:p>
          <a:p>
            <a:pPr algn="ctr"/>
            <a:r>
              <a:rPr lang="en-US" sz="1600" dirty="0" err="1"/>
              <a:t>endyear</a:t>
            </a:r>
            <a:r>
              <a:rPr lang="en-US" sz="1600" dirty="0"/>
              <a:t> = Last year to simulate</a:t>
            </a:r>
          </a:p>
        </p:txBody>
      </p:sp>
      <p:cxnSp>
        <p:nvCxnSpPr>
          <p:cNvPr id="64" name="Straight Arrow Connector 63"/>
          <p:cNvCxnSpPr>
            <a:cxnSpLocks/>
          </p:cNvCxnSpPr>
          <p:nvPr/>
        </p:nvCxnSpPr>
        <p:spPr>
          <a:xfrm>
            <a:off x="5881524" y="2502447"/>
            <a:ext cx="254912" cy="1063326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5881524" y="2268759"/>
            <a:ext cx="254912" cy="2336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881524" y="2502447"/>
            <a:ext cx="254912" cy="1373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2083533" y="2068993"/>
            <a:ext cx="4052904" cy="3438810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47236" y="4783213"/>
            <a:ext cx="322556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/>
              <a:t>dtsib</a:t>
            </a:r>
            <a:r>
              <a:rPr lang="en-US" sz="1600" dirty="0"/>
              <a:t> = Model time-step (in seconds)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366" y="5610152"/>
            <a:ext cx="3231718" cy="107721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/>
              <a:t>dtsibrestart</a:t>
            </a:r>
            <a:r>
              <a:rPr lang="en-US" sz="1600" dirty="0"/>
              <a:t> = Restart output interval</a:t>
            </a:r>
          </a:p>
          <a:p>
            <a:pPr algn="ctr"/>
            <a:r>
              <a:rPr lang="en-US" sz="1600" dirty="0"/>
              <a:t>&gt; 0 in units of seconds</a:t>
            </a:r>
          </a:p>
          <a:p>
            <a:pPr algn="ctr"/>
            <a:r>
              <a:rPr lang="en-US" sz="1600" dirty="0"/>
              <a:t>&lt; 0 in units of months</a:t>
            </a:r>
          </a:p>
          <a:p>
            <a:pPr algn="ctr"/>
            <a:r>
              <a:rPr lang="en-US" sz="1600" dirty="0"/>
              <a:t>0 = no 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1088" y="469447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4965616" y="5034271"/>
            <a:ext cx="42498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0"/>
              <a:buChar char=""/>
            </a:pPr>
            <a:r>
              <a:rPr lang="en-US" sz="1600" dirty="0">
                <a:ea typeface="Wingdings"/>
                <a:cs typeface="Wingdings"/>
                <a:sym typeface="Wingdings"/>
              </a:rPr>
              <a:t>QP = All Points (monthly maps)</a:t>
            </a:r>
          </a:p>
          <a:p>
            <a:pPr marL="285750" indent="-285750">
              <a:buFont typeface="Wingdings" charset="0"/>
              <a:buChar char=""/>
            </a:pPr>
            <a:r>
              <a:rPr lang="en-US" sz="1600" dirty="0">
                <a:ea typeface="Wingdings"/>
                <a:cs typeface="Wingdings"/>
                <a:sym typeface="Wingdings"/>
              </a:rPr>
              <a:t>PBP = Select Points (daily/hourly time-series)</a:t>
            </a:r>
          </a:p>
          <a:p>
            <a:pPr marL="285750" indent="-285750">
              <a:buFont typeface="Wingdings" charset="0"/>
              <a:buChar char=""/>
            </a:pPr>
            <a:r>
              <a:rPr lang="en-US" sz="1600" dirty="0">
                <a:ea typeface="Wingdings"/>
                <a:cs typeface="Wingdings"/>
                <a:sym typeface="Wingdings"/>
              </a:rPr>
              <a:t>HR = All Points (hourly maps)</a:t>
            </a:r>
          </a:p>
        </p:txBody>
      </p:sp>
    </p:spTree>
    <p:extLst>
      <p:ext uri="{BB962C8B-B14F-4D97-AF65-F5344CB8AC3E}">
        <p14:creationId xmlns:p14="http://schemas.microsoft.com/office/powerpoint/2010/main" val="1550798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A762DD-FB77-1046-9E98-28006B1CD1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54"/>
          <a:stretch/>
        </p:blipFill>
        <p:spPr>
          <a:xfrm>
            <a:off x="4053475" y="3002788"/>
            <a:ext cx="5029200" cy="3107726"/>
          </a:xfrm>
          <a:prstGeom prst="rect">
            <a:avLst/>
          </a:prstGeom>
          <a:ln w="31750">
            <a:solidFill>
              <a:schemeClr val="tx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849474" y="166291"/>
            <a:ext cx="3854196" cy="255454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u="sng" dirty="0"/>
              <a:t>Parameter Files</a:t>
            </a:r>
          </a:p>
          <a:p>
            <a:pPr algn="ctr"/>
            <a:r>
              <a:rPr lang="en-US" sz="1600" dirty="0" err="1"/>
              <a:t>pft_info</a:t>
            </a:r>
            <a:r>
              <a:rPr lang="en-US" sz="1600" dirty="0"/>
              <a:t> = Plant Functional Type (PFT) Info</a:t>
            </a:r>
            <a:endParaRPr lang="en-US" sz="1600" u="sng" dirty="0"/>
          </a:p>
          <a:p>
            <a:pPr algn="ctr"/>
            <a:r>
              <a:rPr lang="en-US" sz="1600" dirty="0" err="1"/>
              <a:t>pool_info</a:t>
            </a:r>
            <a:r>
              <a:rPr lang="en-US" sz="1600" dirty="0"/>
              <a:t> = Pool Information</a:t>
            </a:r>
          </a:p>
          <a:p>
            <a:pPr algn="ctr"/>
            <a:r>
              <a:rPr lang="en-US" sz="1600" dirty="0" err="1"/>
              <a:t>aero_file</a:t>
            </a:r>
            <a:r>
              <a:rPr lang="en-US" sz="1600" dirty="0"/>
              <a:t> = Aerodynamic Parameters</a:t>
            </a:r>
          </a:p>
          <a:p>
            <a:pPr algn="ctr"/>
            <a:r>
              <a:rPr lang="en-US" sz="1600" dirty="0" err="1"/>
              <a:t>pgdd_file</a:t>
            </a:r>
            <a:r>
              <a:rPr lang="en-US" sz="1600" dirty="0"/>
              <a:t> = Growing Degree-Day Phenology </a:t>
            </a:r>
          </a:p>
          <a:p>
            <a:pPr algn="ctr"/>
            <a:r>
              <a:rPr lang="en-US" sz="1600" dirty="0"/>
              <a:t>  Parameters (crops)</a:t>
            </a:r>
          </a:p>
          <a:p>
            <a:pPr algn="ctr"/>
            <a:r>
              <a:rPr lang="en-US" sz="1600" dirty="0" err="1"/>
              <a:t>pstg_file</a:t>
            </a:r>
            <a:r>
              <a:rPr lang="en-US" sz="1600" dirty="0"/>
              <a:t> = Stage-Based Phenology </a:t>
            </a:r>
          </a:p>
          <a:p>
            <a:pPr algn="ctr"/>
            <a:r>
              <a:rPr lang="en-US" sz="1600" dirty="0"/>
              <a:t>Parameters (non-crops)</a:t>
            </a:r>
          </a:p>
          <a:p>
            <a:pPr algn="ctr"/>
            <a:r>
              <a:rPr lang="en-US" sz="1600" dirty="0" err="1"/>
              <a:t>phys_file</a:t>
            </a:r>
            <a:r>
              <a:rPr lang="en-US" sz="1600" dirty="0"/>
              <a:t> = Physiology Parameters</a:t>
            </a:r>
          </a:p>
          <a:p>
            <a:pPr algn="ctr"/>
            <a:r>
              <a:rPr lang="en-US" sz="1600" dirty="0" err="1"/>
              <a:t>pool_file</a:t>
            </a:r>
            <a:r>
              <a:rPr lang="en-US" sz="1600" dirty="0"/>
              <a:t> = Pool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649" y="1252137"/>
            <a:ext cx="3833826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/>
              <a:t>Site Information</a:t>
            </a:r>
          </a:p>
          <a:p>
            <a:pPr algn="ctr"/>
            <a:r>
              <a:rPr lang="en-US" sz="1600" dirty="0" err="1"/>
              <a:t>vs_file</a:t>
            </a:r>
            <a:r>
              <a:rPr lang="en-US" sz="1600" dirty="0"/>
              <a:t> = File containing the site </a:t>
            </a:r>
            <a:r>
              <a:rPr lang="en-US" sz="1600" dirty="0" err="1"/>
              <a:t>lat</a:t>
            </a:r>
            <a:r>
              <a:rPr lang="en-US" sz="1600" dirty="0"/>
              <a:t>/</a:t>
            </a:r>
            <a:r>
              <a:rPr lang="en-US" sz="1600" dirty="0" err="1"/>
              <a:t>lon</a:t>
            </a:r>
            <a:r>
              <a:rPr lang="en-US" sz="1600" dirty="0"/>
              <a:t>,  vegetation structure, and soil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108" y="48613"/>
            <a:ext cx="331934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SiB4 Name List:</a:t>
            </a:r>
          </a:p>
          <a:p>
            <a:r>
              <a:rPr lang="en-US" sz="2600" b="1" dirty="0">
                <a:latin typeface="Helvetica"/>
                <a:cs typeface="Helvetica"/>
              </a:rPr>
              <a:t>IO Options</a:t>
            </a:r>
            <a:endParaRPr lang="en-US" sz="2600" dirty="0">
              <a:latin typeface="Helvetica"/>
              <a:cs typeface="Helvetic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08157" y="5128686"/>
            <a:ext cx="35546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u="sng" dirty="0"/>
              <a:t>Output Information</a:t>
            </a:r>
          </a:p>
          <a:p>
            <a:pPr algn="ctr"/>
            <a:r>
              <a:rPr lang="en-US" sz="1600" dirty="0" err="1"/>
              <a:t>out_path</a:t>
            </a:r>
            <a:r>
              <a:rPr lang="en-US" sz="1600" dirty="0"/>
              <a:t> = Directory for output files</a:t>
            </a:r>
          </a:p>
          <a:p>
            <a:pPr algn="ctr"/>
            <a:r>
              <a:rPr lang="en-US" sz="1600" dirty="0" err="1"/>
              <a:t>out_info</a:t>
            </a:r>
            <a:r>
              <a:rPr lang="en-US" sz="1600" dirty="0"/>
              <a:t> = File containing the diagnostic </a:t>
            </a:r>
          </a:p>
          <a:p>
            <a:pPr algn="ctr"/>
            <a:r>
              <a:rPr lang="en-US" sz="1600" dirty="0"/>
              <a:t>       variables to be saved</a:t>
            </a:r>
          </a:p>
          <a:p>
            <a:pPr algn="ctr"/>
            <a:r>
              <a:rPr lang="en-US" sz="1600" dirty="0" err="1"/>
              <a:t>out_rinfo</a:t>
            </a:r>
            <a:r>
              <a:rPr lang="en-US" sz="1600" dirty="0"/>
              <a:t> = File containing restart </a:t>
            </a:r>
          </a:p>
          <a:p>
            <a:pPr algn="ctr"/>
            <a:r>
              <a:rPr lang="en-US" sz="1600" dirty="0"/>
              <a:t>         variables to be saved</a:t>
            </a:r>
          </a:p>
        </p:txBody>
      </p: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7989755" y="3305142"/>
            <a:ext cx="341445" cy="5556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</p:cNvCxnSpPr>
          <p:nvPr/>
        </p:nvCxnSpPr>
        <p:spPr>
          <a:xfrm flipH="1" flipV="1">
            <a:off x="8039412" y="2518282"/>
            <a:ext cx="291789" cy="1342522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 flipH="1" flipV="1">
            <a:off x="2902857" y="4691409"/>
            <a:ext cx="1395596" cy="691541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cxnSpLocks/>
          </p:cNvCxnSpPr>
          <p:nvPr/>
        </p:nvCxnSpPr>
        <p:spPr>
          <a:xfrm flipH="1" flipV="1">
            <a:off x="2813225" y="3860802"/>
            <a:ext cx="1456690" cy="1303883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cxnSpLocks/>
          </p:cNvCxnSpPr>
          <p:nvPr/>
        </p:nvCxnSpPr>
        <p:spPr>
          <a:xfrm flipV="1">
            <a:off x="8039412" y="3860802"/>
            <a:ext cx="291788" cy="6739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51B9648-17E3-4A46-B75B-D21B3C4C326D}"/>
              </a:ext>
            </a:extLst>
          </p:cNvPr>
          <p:cNvCxnSpPr>
            <a:cxnSpLocks/>
          </p:cNvCxnSpPr>
          <p:nvPr/>
        </p:nvCxnSpPr>
        <p:spPr>
          <a:xfrm flipH="1" flipV="1">
            <a:off x="2902857" y="5292460"/>
            <a:ext cx="1334082" cy="180979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4333" y="2453489"/>
            <a:ext cx="3823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u="sng" dirty="0"/>
              <a:t>Restart File</a:t>
            </a:r>
          </a:p>
          <a:p>
            <a:pPr algn="ctr"/>
            <a:r>
              <a:rPr lang="en-US" sz="1600" dirty="0" err="1"/>
              <a:t>ic_file</a:t>
            </a:r>
            <a:r>
              <a:rPr lang="en-US" sz="1600" dirty="0"/>
              <a:t> = File containing the initial conditions</a:t>
            </a:r>
          </a:p>
        </p:txBody>
      </p:sp>
      <p:cxnSp>
        <p:nvCxnSpPr>
          <p:cNvPr id="49" name="Straight Arrow Connector 48"/>
          <p:cNvCxnSpPr>
            <a:cxnSpLocks/>
          </p:cNvCxnSpPr>
          <p:nvPr/>
        </p:nvCxnSpPr>
        <p:spPr>
          <a:xfrm flipH="1" flipV="1">
            <a:off x="3784209" y="2083134"/>
            <a:ext cx="442854" cy="2639929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DF50C54-EE61-BB41-89C5-3ED02BF4A28F}"/>
              </a:ext>
            </a:extLst>
          </p:cNvPr>
          <p:cNvCxnSpPr>
            <a:cxnSpLocks/>
          </p:cNvCxnSpPr>
          <p:nvPr/>
        </p:nvCxnSpPr>
        <p:spPr>
          <a:xfrm flipH="1" flipV="1">
            <a:off x="3794249" y="5435741"/>
            <a:ext cx="432814" cy="5725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817F9DC-F48B-E942-8A4E-256843059A07}"/>
              </a:ext>
            </a:extLst>
          </p:cNvPr>
          <p:cNvSpPr txBox="1"/>
          <p:nvPr/>
        </p:nvSpPr>
        <p:spPr>
          <a:xfrm>
            <a:off x="6662" y="4076170"/>
            <a:ext cx="397256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u="sng" dirty="0"/>
              <a:t>Fire Data</a:t>
            </a:r>
          </a:p>
          <a:p>
            <a:pPr algn="ctr"/>
            <a:r>
              <a:rPr lang="en-US" sz="1600" dirty="0" err="1"/>
              <a:t>fr_path</a:t>
            </a:r>
            <a:r>
              <a:rPr lang="en-US" sz="1600" dirty="0"/>
              <a:t> = Directory containing fire emissions</a:t>
            </a:r>
          </a:p>
        </p:txBody>
      </p:sp>
      <p:cxnSp>
        <p:nvCxnSpPr>
          <p:cNvPr id="64" name="Straight Arrow Connector 63"/>
          <p:cNvCxnSpPr>
            <a:cxnSpLocks/>
          </p:cNvCxnSpPr>
          <p:nvPr/>
        </p:nvCxnSpPr>
        <p:spPr>
          <a:xfrm flipH="1" flipV="1">
            <a:off x="3367851" y="3019329"/>
            <a:ext cx="890678" cy="1921317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84108" y="3234188"/>
            <a:ext cx="3681905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u="sng" dirty="0"/>
              <a:t>Driver Data</a:t>
            </a:r>
          </a:p>
          <a:p>
            <a:pPr algn="ctr"/>
            <a:r>
              <a:rPr lang="en-US" sz="1600" dirty="0" err="1"/>
              <a:t>dr_path</a:t>
            </a:r>
            <a:r>
              <a:rPr lang="en-US" sz="1600" dirty="0"/>
              <a:t> = Directory containing driver data</a:t>
            </a:r>
          </a:p>
        </p:txBody>
      </p:sp>
    </p:spTree>
    <p:extLst>
      <p:ext uri="{BB962C8B-B14F-4D97-AF65-F5344CB8AC3E}">
        <p14:creationId xmlns:p14="http://schemas.microsoft.com/office/powerpoint/2010/main" val="3277714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4050" y="194047"/>
            <a:ext cx="335628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SiB4 Name List:</a:t>
            </a:r>
          </a:p>
          <a:p>
            <a:r>
              <a:rPr lang="en-US" sz="2600" b="1" dirty="0">
                <a:latin typeface="Helvetica"/>
                <a:cs typeface="Helvetica"/>
              </a:rPr>
              <a:t>Spin-Up Options</a:t>
            </a:r>
            <a:endParaRPr lang="en-US" sz="2600" dirty="0">
              <a:latin typeface="Helvetica"/>
              <a:cs typeface="Helvetic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04762" y="3597745"/>
            <a:ext cx="6328519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 err="1"/>
              <a:t>Spinup</a:t>
            </a:r>
            <a:r>
              <a:rPr lang="en-US" sz="1600" u="sng" dirty="0"/>
              <a:t> Information</a:t>
            </a:r>
          </a:p>
          <a:p>
            <a:pPr algn="ctr"/>
            <a:r>
              <a:rPr lang="en-US" sz="1600" dirty="0" err="1"/>
              <a:t>spinup</a:t>
            </a:r>
            <a:r>
              <a:rPr lang="en-US" sz="1600" dirty="0"/>
              <a:t> = .TRUE. for a </a:t>
            </a:r>
            <a:r>
              <a:rPr lang="en-US" sz="1600" dirty="0" err="1"/>
              <a:t>spinup</a:t>
            </a:r>
            <a:r>
              <a:rPr lang="en-US" sz="1600" dirty="0"/>
              <a:t> simulation</a:t>
            </a:r>
          </a:p>
          <a:p>
            <a:pPr algn="ctr"/>
            <a:r>
              <a:rPr lang="en-US" sz="1600" dirty="0" err="1"/>
              <a:t>spinup_default</a:t>
            </a:r>
            <a:r>
              <a:rPr lang="en-US" sz="1600" dirty="0"/>
              <a:t> = .TRUE. for default initial pools </a:t>
            </a:r>
          </a:p>
          <a:p>
            <a:pPr algn="ctr"/>
            <a:r>
              <a:rPr lang="en-US" sz="1600" dirty="0"/>
              <a:t>(zero pools except minimal leaf)</a:t>
            </a:r>
          </a:p>
          <a:p>
            <a:pPr algn="ctr"/>
            <a:r>
              <a:rPr lang="en-US" sz="1600" dirty="0" err="1"/>
              <a:t>spinup_output</a:t>
            </a:r>
            <a:r>
              <a:rPr lang="en-US" sz="1600" dirty="0"/>
              <a:t> = .TRUE. to output diagnostics during a </a:t>
            </a:r>
            <a:r>
              <a:rPr lang="en-US" sz="1600" dirty="0" err="1"/>
              <a:t>spinup</a:t>
            </a:r>
            <a:r>
              <a:rPr lang="en-US" sz="1600" dirty="0"/>
              <a:t> simulation</a:t>
            </a:r>
          </a:p>
          <a:p>
            <a:pPr algn="ctr"/>
            <a:r>
              <a:rPr lang="en-US" sz="1600" dirty="0" err="1"/>
              <a:t>spinup_numyrs</a:t>
            </a:r>
            <a:r>
              <a:rPr lang="en-US" sz="1600" dirty="0"/>
              <a:t> = number of years to run per </a:t>
            </a:r>
            <a:r>
              <a:rPr lang="en-US" sz="1600" dirty="0" err="1"/>
              <a:t>spinup</a:t>
            </a:r>
            <a:r>
              <a:rPr lang="en-US" sz="1600" dirty="0"/>
              <a:t> iteration</a:t>
            </a:r>
          </a:p>
          <a:p>
            <a:pPr algn="ctr"/>
            <a:r>
              <a:rPr lang="en-US" sz="1600" dirty="0" err="1"/>
              <a:t>spinup_maxiter</a:t>
            </a:r>
            <a:r>
              <a:rPr lang="en-US" sz="1600" dirty="0"/>
              <a:t> = maximum number of </a:t>
            </a:r>
            <a:r>
              <a:rPr lang="en-US" sz="1600" dirty="0" err="1"/>
              <a:t>spinup</a:t>
            </a:r>
            <a:r>
              <a:rPr lang="en-US" sz="1600" dirty="0"/>
              <a:t> iterations</a:t>
            </a:r>
          </a:p>
          <a:p>
            <a:pPr algn="ctr"/>
            <a:r>
              <a:rPr lang="en-US" sz="1600" dirty="0" err="1"/>
              <a:t>spinup_threshold</a:t>
            </a:r>
            <a:r>
              <a:rPr lang="en-US" sz="1600" dirty="0"/>
              <a:t> = threshold for declaring pools in equilibrium</a:t>
            </a:r>
          </a:p>
          <a:p>
            <a:pPr algn="ctr"/>
            <a:r>
              <a:rPr lang="en-US" sz="1600" dirty="0"/>
              <a:t>pool  * (1 - threshold) &lt; pool equilibrium &lt; pool  * (1 + threshold)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 err="1"/>
              <a:t>spinup_writediag</a:t>
            </a:r>
            <a:r>
              <a:rPr lang="en-US" sz="1600" dirty="0"/>
              <a:t> = .TRUE. to save diagnostic variables during </a:t>
            </a:r>
            <a:r>
              <a:rPr lang="en-US" sz="1600" dirty="0" err="1"/>
              <a:t>spinup</a:t>
            </a:r>
            <a:endParaRPr lang="en-US" sz="1600" dirty="0"/>
          </a:p>
          <a:p>
            <a:pPr algn="ctr"/>
            <a:r>
              <a:rPr lang="en-US" sz="1600" dirty="0" err="1"/>
              <a:t>spinup_writetxtf</a:t>
            </a:r>
            <a:r>
              <a:rPr lang="en-US" sz="1600" dirty="0"/>
              <a:t> = .TRUE. to write equilibrium pool stats to 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6CF270-1B93-634E-86D0-71622E256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871" y="1620160"/>
            <a:ext cx="2819400" cy="16637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02132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0493" y="212905"/>
            <a:ext cx="57284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SiB4 Name List:</a:t>
            </a:r>
          </a:p>
          <a:p>
            <a:r>
              <a:rPr lang="en-US" sz="2600" b="1" dirty="0">
                <a:latin typeface="Helvetica"/>
                <a:cs typeface="Helvetica"/>
              </a:rPr>
              <a:t>Sub-Grid and Point Output Options</a:t>
            </a:r>
            <a:endParaRPr lang="en-US" sz="2600" dirty="0">
              <a:latin typeface="Helvetica"/>
              <a:cs typeface="Helvetic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4050" y="1846030"/>
            <a:ext cx="4721332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                               </a:t>
            </a:r>
            <a:r>
              <a:rPr lang="en-US" sz="1600" u="sng" dirty="0" err="1"/>
              <a:t>Subgrid</a:t>
            </a:r>
            <a:r>
              <a:rPr lang="en-US" sz="1600" u="sng" dirty="0"/>
              <a:t> Boundaries</a:t>
            </a:r>
          </a:p>
          <a:p>
            <a:r>
              <a:rPr lang="en-US" sz="1600" dirty="0"/>
              <a:t>For non-point simulations, SiB4 has the capability of simulating only a subset of the grid specified in the </a:t>
            </a:r>
            <a:r>
              <a:rPr lang="en-US" sz="1600" dirty="0" err="1"/>
              <a:t>vs_file</a:t>
            </a:r>
            <a:r>
              <a:rPr lang="en-US" sz="1600" dirty="0"/>
              <a:t>.  Setting these to locations inside the domain will cause SiB4 to only simulate the points inside this specified </a:t>
            </a:r>
            <a:r>
              <a:rPr lang="en-US" sz="1600" dirty="0" err="1"/>
              <a:t>subgrid</a:t>
            </a:r>
            <a:r>
              <a:rPr lang="en-US" sz="1600" dirty="0"/>
              <a:t> domain.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9839" y="4637226"/>
            <a:ext cx="6328519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/>
              <a:t>Point-By-Point Output Information</a:t>
            </a:r>
          </a:p>
          <a:p>
            <a:pPr algn="ctr"/>
            <a:r>
              <a:rPr lang="en-US" sz="1600" dirty="0"/>
              <a:t>For non-point simulations, SiB4 has the capability of saving diagnostics for only a select number of points in the ‘</a:t>
            </a:r>
            <a:r>
              <a:rPr lang="en-US" sz="1600" dirty="0" err="1"/>
              <a:t>pbp</a:t>
            </a:r>
            <a:r>
              <a:rPr lang="en-US" sz="1600" dirty="0"/>
              <a:t>’ output files.  </a:t>
            </a:r>
          </a:p>
          <a:p>
            <a:pPr algn="ctr"/>
            <a:r>
              <a:rPr lang="en-US" sz="1600" dirty="0" err="1"/>
              <a:t>npbp</a:t>
            </a:r>
            <a:r>
              <a:rPr lang="en-US" sz="1600" dirty="0"/>
              <a:t> = number of points to save</a:t>
            </a:r>
          </a:p>
          <a:p>
            <a:pPr algn="ctr"/>
            <a:r>
              <a:rPr lang="en-US" sz="1600" dirty="0"/>
              <a:t>This is immediately followed by a list of the longitude and latitude of all the desired points to save.</a:t>
            </a:r>
          </a:p>
        </p:txBody>
      </p:sp>
      <p:cxnSp>
        <p:nvCxnSpPr>
          <p:cNvPr id="49" name="Straight Arrow Connector 48"/>
          <p:cNvCxnSpPr>
            <a:cxnSpLocks/>
          </p:cNvCxnSpPr>
          <p:nvPr/>
        </p:nvCxnSpPr>
        <p:spPr>
          <a:xfrm flipH="1">
            <a:off x="4459408" y="2904565"/>
            <a:ext cx="1901051" cy="1732661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</p:cNvCxnSpPr>
          <p:nvPr/>
        </p:nvCxnSpPr>
        <p:spPr>
          <a:xfrm flipH="1">
            <a:off x="3989942" y="1461501"/>
            <a:ext cx="2370517" cy="448318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A82CBB7-1F98-0A46-9C7F-0B860AC98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108" y="1145004"/>
            <a:ext cx="1714500" cy="28575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38623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F77E90-42E6-1B44-86D5-A3EB471F9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452" y="96539"/>
            <a:ext cx="2603500" cy="44831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256413" y="46947"/>
            <a:ext cx="42094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SiB4 Name List:</a:t>
            </a:r>
          </a:p>
          <a:p>
            <a:r>
              <a:rPr lang="en-US" sz="2600" b="1" dirty="0">
                <a:latin typeface="Helvetica"/>
                <a:cs typeface="Helvetica"/>
              </a:rPr>
              <a:t>Balance Check Options</a:t>
            </a:r>
            <a:endParaRPr lang="en-US" sz="2600" dirty="0">
              <a:latin typeface="Helvetica"/>
              <a:cs typeface="Helvetic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544" y="1363914"/>
            <a:ext cx="4421713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u="sng" dirty="0"/>
              <a:t>Canopy Air Space Temperatures</a:t>
            </a:r>
          </a:p>
          <a:p>
            <a:r>
              <a:rPr lang="en-US" sz="1600" dirty="0" err="1"/>
              <a:t>badtc_print</a:t>
            </a:r>
            <a:r>
              <a:rPr lang="en-US" sz="1600" dirty="0"/>
              <a:t> = print out bad canopy temperatures? </a:t>
            </a:r>
          </a:p>
          <a:p>
            <a:r>
              <a:rPr lang="en-US" sz="1600" dirty="0" err="1"/>
              <a:t>badtc_stop</a:t>
            </a:r>
            <a:r>
              <a:rPr lang="en-US" sz="1600" dirty="0"/>
              <a:t> = stop for bad canopy temperatures?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79" y="4699358"/>
            <a:ext cx="4574986" cy="20621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/>
              <a:t>Energy and Water Balance Options</a:t>
            </a:r>
          </a:p>
          <a:p>
            <a:r>
              <a:rPr lang="en-US" sz="1600" dirty="0" err="1"/>
              <a:t>bnum_allow</a:t>
            </a:r>
            <a:r>
              <a:rPr lang="en-US" sz="1600" dirty="0"/>
              <a:t> = number of allowable balance offenses</a:t>
            </a:r>
          </a:p>
          <a:p>
            <a:r>
              <a:rPr lang="en-US" sz="1600" dirty="0" err="1"/>
              <a:t>energyb_print</a:t>
            </a:r>
            <a:r>
              <a:rPr lang="en-US" sz="1600" dirty="0"/>
              <a:t> = print energy balance values?</a:t>
            </a:r>
          </a:p>
          <a:p>
            <a:r>
              <a:rPr lang="en-US" sz="1600" dirty="0" err="1"/>
              <a:t>energy_stop</a:t>
            </a:r>
            <a:r>
              <a:rPr lang="en-US" sz="1600" dirty="0"/>
              <a:t> = stop if energy balance fails?</a:t>
            </a:r>
          </a:p>
          <a:p>
            <a:r>
              <a:rPr lang="en-US" sz="1600" dirty="0" err="1"/>
              <a:t>energyb_thresho</a:t>
            </a:r>
            <a:r>
              <a:rPr lang="en-US" sz="1600" dirty="0"/>
              <a:t> = energy balance threshold</a:t>
            </a:r>
          </a:p>
          <a:p>
            <a:r>
              <a:rPr lang="en-US" sz="1600" dirty="0" err="1"/>
              <a:t>waterb_print</a:t>
            </a:r>
            <a:r>
              <a:rPr lang="en-US" sz="1600" dirty="0"/>
              <a:t> = print water balance values?</a:t>
            </a:r>
          </a:p>
          <a:p>
            <a:r>
              <a:rPr lang="en-US" sz="1600" dirty="0" err="1"/>
              <a:t>waterb_stop</a:t>
            </a:r>
            <a:r>
              <a:rPr lang="en-US" sz="1600" dirty="0"/>
              <a:t> = stop if water balance fails?</a:t>
            </a:r>
          </a:p>
          <a:p>
            <a:r>
              <a:rPr lang="en-US" sz="1600" dirty="0" err="1"/>
              <a:t>waterb_thresh</a:t>
            </a:r>
            <a:r>
              <a:rPr lang="en-US" sz="1600" dirty="0"/>
              <a:t> = water balance threshold</a:t>
            </a: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 flipH="1">
            <a:off x="4354286" y="551409"/>
            <a:ext cx="2278744" cy="1002407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0865BA-9F65-724D-8F90-750B4BB8E15C}"/>
              </a:ext>
            </a:extLst>
          </p:cNvPr>
          <p:cNvCxnSpPr>
            <a:cxnSpLocks/>
          </p:cNvCxnSpPr>
          <p:nvPr/>
        </p:nvCxnSpPr>
        <p:spPr>
          <a:xfrm flipV="1">
            <a:off x="6209520" y="3411515"/>
            <a:ext cx="370102" cy="4499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935C40-6F25-7647-9C3A-9BFB6A9BDDC6}"/>
              </a:ext>
            </a:extLst>
          </p:cNvPr>
          <p:cNvSpPr txBox="1"/>
          <p:nvPr/>
        </p:nvSpPr>
        <p:spPr>
          <a:xfrm>
            <a:off x="144829" y="2305161"/>
            <a:ext cx="3691473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u="sng" dirty="0"/>
              <a:t>Canopy Balance</a:t>
            </a:r>
          </a:p>
          <a:p>
            <a:r>
              <a:rPr lang="en-US" sz="1600" dirty="0" err="1"/>
              <a:t>canb_print</a:t>
            </a:r>
            <a:r>
              <a:rPr lang="en-US" sz="1600" dirty="0"/>
              <a:t> = print canopy balance values?</a:t>
            </a:r>
          </a:p>
          <a:p>
            <a:r>
              <a:rPr lang="en-US" sz="1600" dirty="0" err="1"/>
              <a:t>Canb_stop</a:t>
            </a:r>
            <a:r>
              <a:rPr lang="en-US" sz="1600" dirty="0"/>
              <a:t> = stop if canopy balance fails?</a:t>
            </a:r>
          </a:p>
          <a:p>
            <a:r>
              <a:rPr lang="en-US" sz="1600" dirty="0" err="1"/>
              <a:t>canb_thresh</a:t>
            </a:r>
            <a:r>
              <a:rPr lang="en-US" sz="1600" dirty="0"/>
              <a:t> = canopy balance threshold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FBE0789-0085-D448-AC2A-CBF8CB397881}"/>
              </a:ext>
            </a:extLst>
          </p:cNvPr>
          <p:cNvCxnSpPr>
            <a:cxnSpLocks/>
          </p:cNvCxnSpPr>
          <p:nvPr/>
        </p:nvCxnSpPr>
        <p:spPr>
          <a:xfrm flipH="1">
            <a:off x="3795263" y="1001845"/>
            <a:ext cx="2784357" cy="1494734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F34947F-A812-E543-B285-60D3AA0CB1D7}"/>
              </a:ext>
            </a:extLst>
          </p:cNvPr>
          <p:cNvSpPr txBox="1"/>
          <p:nvPr/>
        </p:nvSpPr>
        <p:spPr>
          <a:xfrm>
            <a:off x="144829" y="4674581"/>
            <a:ext cx="3363432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u="sng" dirty="0"/>
              <a:t>Fire Balance</a:t>
            </a:r>
          </a:p>
          <a:p>
            <a:r>
              <a:rPr lang="en-US" sz="1600" dirty="0" err="1"/>
              <a:t>fireb_print</a:t>
            </a:r>
            <a:r>
              <a:rPr lang="en-US" sz="1600" dirty="0"/>
              <a:t> = print fire balance values?</a:t>
            </a:r>
          </a:p>
          <a:p>
            <a:r>
              <a:rPr lang="en-US" sz="1600" dirty="0" err="1"/>
              <a:t>fireb_stop</a:t>
            </a:r>
            <a:r>
              <a:rPr lang="en-US" sz="1600" dirty="0"/>
              <a:t> = stop if fire balance fails?</a:t>
            </a:r>
          </a:p>
          <a:p>
            <a:r>
              <a:rPr lang="en-US" sz="1600" dirty="0" err="1"/>
              <a:t>fireb_thresh</a:t>
            </a:r>
            <a:r>
              <a:rPr lang="en-US" sz="1600" dirty="0"/>
              <a:t> = fire balance threshold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CC8E2E-9595-B94F-8E56-781CEDB51E63}"/>
              </a:ext>
            </a:extLst>
          </p:cNvPr>
          <p:cNvSpPr txBox="1"/>
          <p:nvPr/>
        </p:nvSpPr>
        <p:spPr>
          <a:xfrm>
            <a:off x="138582" y="3507489"/>
            <a:ext cx="4020772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u="sng" dirty="0"/>
              <a:t>Carbon Balance</a:t>
            </a:r>
          </a:p>
          <a:p>
            <a:r>
              <a:rPr lang="en-US" sz="1600" dirty="0" err="1"/>
              <a:t>carbonb_print</a:t>
            </a:r>
            <a:r>
              <a:rPr lang="en-US" sz="1600" dirty="0"/>
              <a:t> = print carbon balance values?</a:t>
            </a:r>
          </a:p>
          <a:p>
            <a:r>
              <a:rPr lang="en-US" sz="1600" dirty="0" err="1"/>
              <a:t>carbonb_stop</a:t>
            </a:r>
            <a:r>
              <a:rPr lang="en-US" sz="1600" dirty="0"/>
              <a:t> = stop if carbon balance fails?</a:t>
            </a:r>
          </a:p>
          <a:p>
            <a:r>
              <a:rPr lang="en-US" sz="1600" dirty="0" err="1"/>
              <a:t>carbonb_thresh</a:t>
            </a:r>
            <a:r>
              <a:rPr lang="en-US" sz="1600" dirty="0"/>
              <a:t> = carbon balance threshold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75086B-680F-3740-8FCC-1D294B49A24A}"/>
              </a:ext>
            </a:extLst>
          </p:cNvPr>
          <p:cNvCxnSpPr>
            <a:cxnSpLocks/>
          </p:cNvCxnSpPr>
          <p:nvPr/>
        </p:nvCxnSpPr>
        <p:spPr>
          <a:xfrm flipH="1">
            <a:off x="3396343" y="2248058"/>
            <a:ext cx="3209982" cy="2723055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5F2D7CB-BF38-CC4A-BD27-AB5723D19303}"/>
              </a:ext>
            </a:extLst>
          </p:cNvPr>
          <p:cNvSpPr txBox="1"/>
          <p:nvPr/>
        </p:nvSpPr>
        <p:spPr>
          <a:xfrm>
            <a:off x="113549" y="5769071"/>
            <a:ext cx="4020771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u="sng" dirty="0"/>
              <a:t>Snow Balance</a:t>
            </a:r>
            <a:r>
              <a:rPr lang="en-US" sz="1600" dirty="0"/>
              <a:t> </a:t>
            </a:r>
          </a:p>
          <a:p>
            <a:r>
              <a:rPr lang="en-US" sz="1600" dirty="0" err="1"/>
              <a:t>snocmbn_print</a:t>
            </a:r>
            <a:r>
              <a:rPr lang="en-US" sz="1600" dirty="0"/>
              <a:t> = print snow combine info?</a:t>
            </a:r>
          </a:p>
          <a:p>
            <a:r>
              <a:rPr lang="en-US" sz="1600" dirty="0" err="1"/>
              <a:t>snocmbn_stop</a:t>
            </a:r>
            <a:r>
              <a:rPr lang="en-US" sz="1600" dirty="0"/>
              <a:t> = stop if snow combine fails?</a:t>
            </a:r>
          </a:p>
          <a:p>
            <a:r>
              <a:rPr lang="en-US" sz="1600" dirty="0" err="1"/>
              <a:t>snowcmbn_thresh</a:t>
            </a:r>
            <a:r>
              <a:rPr lang="en-US" sz="1600" dirty="0"/>
              <a:t> = snow combine threshold</a:t>
            </a:r>
            <a:endParaRPr lang="en-US" sz="1600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E2894-28F8-FB4D-B323-7D5DF3602422}"/>
              </a:ext>
            </a:extLst>
          </p:cNvPr>
          <p:cNvSpPr txBox="1"/>
          <p:nvPr/>
        </p:nvSpPr>
        <p:spPr>
          <a:xfrm>
            <a:off x="241660" y="942883"/>
            <a:ext cx="4758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balances print a message if an offense occurs.</a:t>
            </a:r>
          </a:p>
        </p:txBody>
      </p:sp>
      <p:cxnSp>
        <p:nvCxnSpPr>
          <p:cNvPr id="49" name="Straight Arrow Connector 48"/>
          <p:cNvCxnSpPr>
            <a:cxnSpLocks/>
          </p:cNvCxnSpPr>
          <p:nvPr/>
        </p:nvCxnSpPr>
        <p:spPr>
          <a:xfrm flipH="1">
            <a:off x="3289307" y="1606963"/>
            <a:ext cx="3290313" cy="2091944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CE536ED-87F4-634C-A083-E9AF99EC782F}"/>
              </a:ext>
            </a:extLst>
          </p:cNvPr>
          <p:cNvCxnSpPr>
            <a:cxnSpLocks/>
          </p:cNvCxnSpPr>
          <p:nvPr/>
        </p:nvCxnSpPr>
        <p:spPr>
          <a:xfrm flipH="1">
            <a:off x="3535030" y="2836006"/>
            <a:ext cx="3044591" cy="3079111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4B1E899-1F73-634F-8CCF-21243F69155C}"/>
              </a:ext>
            </a:extLst>
          </p:cNvPr>
          <p:cNvCxnSpPr>
            <a:cxnSpLocks/>
          </p:cNvCxnSpPr>
          <p:nvPr/>
        </p:nvCxnSpPr>
        <p:spPr>
          <a:xfrm>
            <a:off x="6209520" y="3872934"/>
            <a:ext cx="370100" cy="5957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682B9CA-45B2-5342-B627-666FE36AEC28}"/>
              </a:ext>
            </a:extLst>
          </p:cNvPr>
          <p:cNvCxnSpPr>
            <a:cxnSpLocks/>
          </p:cNvCxnSpPr>
          <p:nvPr/>
        </p:nvCxnSpPr>
        <p:spPr>
          <a:xfrm flipH="1">
            <a:off x="5753359" y="3857735"/>
            <a:ext cx="455284" cy="846691"/>
          </a:xfrm>
          <a:prstGeom prst="straightConnector1">
            <a:avLst/>
          </a:prstGeom>
          <a:ln w="190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98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2540" y="176438"/>
            <a:ext cx="42094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SiB4 Name List:</a:t>
            </a:r>
          </a:p>
          <a:p>
            <a:r>
              <a:rPr lang="en-US" sz="2600" b="1" dirty="0">
                <a:latin typeface="Helvetica"/>
                <a:cs typeface="Helvetica"/>
              </a:rPr>
              <a:t>Screen Printing Options</a:t>
            </a:r>
            <a:endParaRPr lang="en-US" sz="2600" dirty="0">
              <a:latin typeface="Helvetica"/>
              <a:cs typeface="Helvetic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15353" y="4014035"/>
            <a:ext cx="5325035" cy="2554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/>
              <a:t>print_avec</a:t>
            </a:r>
            <a:r>
              <a:rPr lang="en-US" sz="1600" dirty="0"/>
              <a:t> = print avec/</a:t>
            </a:r>
            <a:r>
              <a:rPr lang="en-US" sz="1600" dirty="0" err="1"/>
              <a:t>bvec</a:t>
            </a:r>
            <a:r>
              <a:rPr lang="en-US" sz="1600" dirty="0"/>
              <a:t> (photosynthesis vectors) values?</a:t>
            </a:r>
          </a:p>
          <a:p>
            <a:r>
              <a:rPr lang="en-US" sz="1600" dirty="0" err="1"/>
              <a:t>print_driver</a:t>
            </a:r>
            <a:r>
              <a:rPr lang="en-US" sz="1600" dirty="0"/>
              <a:t> = print driver data?</a:t>
            </a:r>
          </a:p>
          <a:p>
            <a:r>
              <a:rPr lang="en-US" sz="1600" dirty="0" err="1"/>
              <a:t>print_fire</a:t>
            </a:r>
            <a:r>
              <a:rPr lang="en-US" sz="1600" dirty="0"/>
              <a:t> = print fire information?</a:t>
            </a:r>
          </a:p>
          <a:p>
            <a:r>
              <a:rPr lang="en-US" sz="1600" dirty="0" err="1"/>
              <a:t>print_harvest</a:t>
            </a:r>
            <a:r>
              <a:rPr lang="en-US" sz="1600" dirty="0"/>
              <a:t> = print harvest information?</a:t>
            </a:r>
          </a:p>
          <a:p>
            <a:r>
              <a:rPr lang="en-US" sz="1600" dirty="0" err="1"/>
              <a:t>print_pftinfo</a:t>
            </a:r>
            <a:r>
              <a:rPr lang="en-US" sz="1600" dirty="0"/>
              <a:t> = print PFT information?</a:t>
            </a:r>
          </a:p>
          <a:p>
            <a:r>
              <a:rPr lang="en-US" sz="1600" dirty="0" err="1"/>
              <a:t>print_pooll</a:t>
            </a:r>
            <a:r>
              <a:rPr lang="en-US" sz="1600" dirty="0"/>
              <a:t> = print live pool values?</a:t>
            </a:r>
          </a:p>
          <a:p>
            <a:r>
              <a:rPr lang="en-US" sz="1600" dirty="0" err="1"/>
              <a:t>print_soil</a:t>
            </a:r>
            <a:r>
              <a:rPr lang="en-US" sz="1600" dirty="0"/>
              <a:t> = print soil properties?</a:t>
            </a:r>
          </a:p>
          <a:p>
            <a:r>
              <a:rPr lang="en-US" sz="1600" dirty="0" err="1"/>
              <a:t>print_sscol</a:t>
            </a:r>
            <a:r>
              <a:rPr lang="en-US" sz="1600" dirty="0"/>
              <a:t> = print soil/snow layer information?</a:t>
            </a:r>
          </a:p>
          <a:p>
            <a:r>
              <a:rPr lang="en-US" sz="1600" dirty="0" err="1"/>
              <a:t>print_veg</a:t>
            </a:r>
            <a:r>
              <a:rPr lang="en-US" sz="1600" dirty="0"/>
              <a:t> = print vegetation values?</a:t>
            </a:r>
          </a:p>
          <a:p>
            <a:r>
              <a:rPr lang="en-US" sz="1600" dirty="0" err="1"/>
              <a:t>print_stop</a:t>
            </a:r>
            <a:r>
              <a:rPr lang="en-US" sz="1600" dirty="0"/>
              <a:t> = stop after printing information?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A7F79C-B88F-F648-9D66-AE97A638C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1438329"/>
            <a:ext cx="2413000" cy="22987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129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2540" y="176438"/>
            <a:ext cx="42094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SiB4 Name List:</a:t>
            </a:r>
          </a:p>
          <a:p>
            <a:r>
              <a:rPr lang="en-US" sz="2600" b="1" dirty="0">
                <a:latin typeface="Helvetica"/>
                <a:cs typeface="Helvetica"/>
              </a:rPr>
              <a:t>Switches</a:t>
            </a:r>
            <a:endParaRPr lang="en-US" sz="2600" dirty="0">
              <a:latin typeface="Helvetica"/>
              <a:cs typeface="Helvetic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48863" y="3879564"/>
            <a:ext cx="4854389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/>
              <a:t>cornsoy_switch</a:t>
            </a:r>
            <a:r>
              <a:rPr lang="en-US" sz="1600" dirty="0"/>
              <a:t> = switch between corn and soybeans?</a:t>
            </a:r>
          </a:p>
          <a:p>
            <a:r>
              <a:rPr lang="en-US" sz="1600" dirty="0" err="1"/>
              <a:t>fire_switch</a:t>
            </a:r>
            <a:r>
              <a:rPr lang="en-US" sz="1600" dirty="0"/>
              <a:t> = use fire emissions?</a:t>
            </a:r>
          </a:p>
          <a:p>
            <a:r>
              <a:rPr lang="en-US" sz="1600" dirty="0" err="1"/>
              <a:t>grazing_switch</a:t>
            </a:r>
            <a:r>
              <a:rPr lang="en-US" sz="1600" dirty="0"/>
              <a:t> = allow grazing?</a:t>
            </a:r>
          </a:p>
          <a:p>
            <a:r>
              <a:rPr lang="en-US" sz="1600" dirty="0" err="1"/>
              <a:t>green_switch</a:t>
            </a:r>
            <a:r>
              <a:rPr lang="en-US" sz="1600" dirty="0"/>
              <a:t> = use greenness fraction?</a:t>
            </a:r>
          </a:p>
          <a:p>
            <a:r>
              <a:rPr lang="en-US" sz="1600" dirty="0" err="1"/>
              <a:t>equibclear_switch</a:t>
            </a:r>
            <a:r>
              <a:rPr lang="en-US" sz="1600" dirty="0"/>
              <a:t> = clear climate/equilibrium variables </a:t>
            </a:r>
          </a:p>
          <a:p>
            <a:r>
              <a:rPr lang="en-US" sz="1600" dirty="0"/>
              <a:t>     at the start of the simulation?</a:t>
            </a:r>
          </a:p>
          <a:p>
            <a:r>
              <a:rPr lang="en-US" sz="1600" dirty="0" err="1"/>
              <a:t>leapyear_switch</a:t>
            </a:r>
            <a:r>
              <a:rPr lang="en-US" sz="1600" dirty="0"/>
              <a:t> = use leap years?</a:t>
            </a:r>
          </a:p>
          <a:p>
            <a:r>
              <a:rPr lang="en-US" sz="1600" dirty="0" err="1"/>
              <a:t>updatelst_switch</a:t>
            </a:r>
            <a:r>
              <a:rPr lang="en-US" sz="1600" dirty="0"/>
              <a:t> = update carbon pools at 0 LST? </a:t>
            </a:r>
          </a:p>
          <a:p>
            <a:r>
              <a:rPr lang="en-US" sz="1600" dirty="0"/>
              <a:t>     (rather than 0 GMT)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93F2EF-89D3-AB4C-A2B3-B74FD0058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713" y="1727200"/>
            <a:ext cx="2692400" cy="17018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6033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8322" y="146156"/>
            <a:ext cx="38763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SiB4 Input File: Diagnostic Output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915DD7-E70A-CD48-950E-C72487A881E6}"/>
              </a:ext>
            </a:extLst>
          </p:cNvPr>
          <p:cNvSpPr txBox="1"/>
          <p:nvPr/>
        </p:nvSpPr>
        <p:spPr>
          <a:xfrm>
            <a:off x="11335871" y="-1277471"/>
            <a:ext cx="1847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688D6B-0E9E-7B4B-9947-CC1C9EB9C9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016"/>
          <a:stretch/>
        </p:blipFill>
        <p:spPr>
          <a:xfrm>
            <a:off x="739899" y="3899780"/>
            <a:ext cx="7556500" cy="12850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1DD80D-F9BD-F943-AADD-53B58D750213}"/>
              </a:ext>
            </a:extLst>
          </p:cNvPr>
          <p:cNvSpPr txBox="1"/>
          <p:nvPr/>
        </p:nvSpPr>
        <p:spPr>
          <a:xfrm>
            <a:off x="93729" y="5801407"/>
            <a:ext cx="1292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 = land unit</a:t>
            </a:r>
          </a:p>
          <a:p>
            <a:r>
              <a:rPr lang="en-US" dirty="0"/>
              <a:t>g = grid cell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777EC9-8F7C-5941-9EFB-051EAD5D5980}"/>
              </a:ext>
            </a:extLst>
          </p:cNvPr>
          <p:cNvSpPr txBox="1"/>
          <p:nvPr/>
        </p:nvSpPr>
        <p:spPr>
          <a:xfrm>
            <a:off x="5034725" y="5306087"/>
            <a:ext cx="3213848" cy="369332"/>
          </a:xfrm>
          <a:prstGeom prst="rect">
            <a:avLst/>
          </a:prstGeom>
          <a:noFill/>
          <a:ln w="6350">
            <a:solidFill>
              <a:schemeClr val="tx1">
                <a:alpha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Non-Changeable Information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B2949B-E170-5143-BD0F-78C02EB032C4}"/>
              </a:ext>
            </a:extLst>
          </p:cNvPr>
          <p:cNvCxnSpPr>
            <a:cxnSpLocks/>
          </p:cNvCxnSpPr>
          <p:nvPr/>
        </p:nvCxnSpPr>
        <p:spPr>
          <a:xfrm>
            <a:off x="4518149" y="3442123"/>
            <a:ext cx="516576" cy="412075"/>
          </a:xfrm>
          <a:prstGeom prst="line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4DDC77-42D1-DF47-B430-5799D9F43D7D}"/>
              </a:ext>
            </a:extLst>
          </p:cNvPr>
          <p:cNvCxnSpPr>
            <a:cxnSpLocks/>
          </p:cNvCxnSpPr>
          <p:nvPr/>
        </p:nvCxnSpPr>
        <p:spPr>
          <a:xfrm flipH="1">
            <a:off x="2394858" y="3442123"/>
            <a:ext cx="537028" cy="412075"/>
          </a:xfrm>
          <a:prstGeom prst="line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F11E94-9722-C340-9943-A70B13DE3373}"/>
              </a:ext>
            </a:extLst>
          </p:cNvPr>
          <p:cNvCxnSpPr>
            <a:cxnSpLocks/>
          </p:cNvCxnSpPr>
          <p:nvPr/>
        </p:nvCxnSpPr>
        <p:spPr>
          <a:xfrm flipV="1">
            <a:off x="484094" y="5230367"/>
            <a:ext cx="769682" cy="545602"/>
          </a:xfrm>
          <a:prstGeom prst="line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23783B2-3B36-1745-AF25-FD831BAC9114}"/>
              </a:ext>
            </a:extLst>
          </p:cNvPr>
          <p:cNvSpPr txBox="1"/>
          <p:nvPr/>
        </p:nvSpPr>
        <p:spPr>
          <a:xfrm>
            <a:off x="1857364" y="5752837"/>
            <a:ext cx="26364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 = single layer</a:t>
            </a:r>
          </a:p>
          <a:p>
            <a:r>
              <a:rPr lang="en-US" dirty="0"/>
              <a:t>soil = soil layers</a:t>
            </a:r>
          </a:p>
          <a:p>
            <a:r>
              <a:rPr lang="en-US" dirty="0" err="1"/>
              <a:t>stot</a:t>
            </a:r>
            <a:r>
              <a:rPr lang="en-US" dirty="0"/>
              <a:t> = snow and soil layers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6185D73-9002-7C44-8D29-2C22A7D9C45A}"/>
              </a:ext>
            </a:extLst>
          </p:cNvPr>
          <p:cNvCxnSpPr>
            <a:cxnSpLocks/>
          </p:cNvCxnSpPr>
          <p:nvPr/>
        </p:nvCxnSpPr>
        <p:spPr>
          <a:xfrm flipH="1" flipV="1">
            <a:off x="1714395" y="5230368"/>
            <a:ext cx="387751" cy="545601"/>
          </a:xfrm>
          <a:prstGeom prst="line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E701E82-8D08-144E-9F32-88BCCF025A50}"/>
              </a:ext>
            </a:extLst>
          </p:cNvPr>
          <p:cNvCxnSpPr>
            <a:cxnSpLocks/>
          </p:cNvCxnSpPr>
          <p:nvPr/>
        </p:nvCxnSpPr>
        <p:spPr>
          <a:xfrm flipH="1" flipV="1">
            <a:off x="4059647" y="5306088"/>
            <a:ext cx="931042" cy="818484"/>
          </a:xfrm>
          <a:prstGeom prst="line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87D61AF-B296-3344-AAB5-5178D943C4B7}"/>
              </a:ext>
            </a:extLst>
          </p:cNvPr>
          <p:cNvSpPr txBox="1"/>
          <p:nvPr/>
        </p:nvSpPr>
        <p:spPr>
          <a:xfrm>
            <a:off x="4990689" y="6013261"/>
            <a:ext cx="25596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variable number used to</a:t>
            </a:r>
          </a:p>
          <a:p>
            <a:r>
              <a:rPr lang="en-US" dirty="0"/>
              <a:t>match the code variable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8310B2-E59A-DA4F-BFF9-7A9EA6AB369B}"/>
              </a:ext>
            </a:extLst>
          </p:cNvPr>
          <p:cNvSpPr txBox="1"/>
          <p:nvPr/>
        </p:nvSpPr>
        <p:spPr>
          <a:xfrm>
            <a:off x="5237629" y="345473"/>
            <a:ext cx="3671047" cy="1107996"/>
          </a:xfrm>
          <a:prstGeom prst="rect">
            <a:avLst/>
          </a:prstGeom>
          <a:noFill/>
          <a:ln>
            <a:solidFill>
              <a:schemeClr val="tx1">
                <a:alpha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3 different diagnostic outputs </a:t>
            </a:r>
          </a:p>
          <a:p>
            <a:r>
              <a:rPr lang="en-US" sz="1600" dirty="0"/>
              <a:t>-&gt; QP (all points, typically monthly)</a:t>
            </a:r>
          </a:p>
          <a:p>
            <a:r>
              <a:rPr lang="en-US" sz="1600" dirty="0"/>
              <a:t>-&gt; PBP (select or all points, typically daily)</a:t>
            </a:r>
          </a:p>
          <a:p>
            <a:r>
              <a:rPr lang="en-US" sz="1600" dirty="0"/>
              <a:t>-&gt; HR (all points, typically hourly)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9ADECB-0193-4042-9527-C717EBCE33DE}"/>
              </a:ext>
            </a:extLst>
          </p:cNvPr>
          <p:cNvSpPr txBox="1"/>
          <p:nvPr/>
        </p:nvSpPr>
        <p:spPr>
          <a:xfrm>
            <a:off x="670418" y="1223374"/>
            <a:ext cx="625511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variables to be output</a:t>
            </a:r>
          </a:p>
          <a:p>
            <a:r>
              <a:rPr lang="en-US" dirty="0"/>
              <a:t>   - Change to the ‘input’ directory</a:t>
            </a:r>
          </a:p>
          <a:p>
            <a:r>
              <a:rPr lang="en-US" dirty="0"/>
              <a:t>   - Open the ‘</a:t>
            </a:r>
            <a:r>
              <a:rPr lang="en-US" dirty="0" err="1"/>
              <a:t>sib_outopts</a:t>
            </a:r>
            <a:r>
              <a:rPr lang="en-US" dirty="0"/>
              <a:t>’ file</a:t>
            </a:r>
          </a:p>
          <a:p>
            <a:r>
              <a:rPr lang="en-US" dirty="0"/>
              <a:t>   - Turn each variable output on/off using the first three columns</a:t>
            </a:r>
          </a:p>
          <a:p>
            <a:r>
              <a:rPr lang="en-US" dirty="0"/>
              <a:t>       1) T = Output variable in QP files</a:t>
            </a:r>
          </a:p>
          <a:p>
            <a:r>
              <a:rPr lang="en-US" dirty="0"/>
              <a:t>       2) T = Output variable in PBP files</a:t>
            </a:r>
          </a:p>
          <a:p>
            <a:r>
              <a:rPr lang="en-US" dirty="0"/>
              <a:t>       3) T = Output variable in HR files</a:t>
            </a:r>
          </a:p>
          <a:p>
            <a:r>
              <a:rPr lang="en-US" dirty="0"/>
              <a:t>   - Change the variable name and title/unit information if desired</a:t>
            </a:r>
          </a:p>
        </p:txBody>
      </p:sp>
    </p:spTree>
    <p:extLst>
      <p:ext uri="{BB962C8B-B14F-4D97-AF65-F5344CB8AC3E}">
        <p14:creationId xmlns:p14="http://schemas.microsoft.com/office/powerpoint/2010/main" val="750749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085683"/>
            <a:ext cx="717005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/>
            <a:r>
              <a:rPr lang="en-US" dirty="0"/>
              <a:t>Change restart variable input/output </a:t>
            </a:r>
          </a:p>
          <a:p>
            <a:pPr marL="285750"/>
            <a:r>
              <a:rPr lang="en-US" dirty="0"/>
              <a:t>    (only if necessary)</a:t>
            </a:r>
          </a:p>
          <a:p>
            <a:r>
              <a:rPr lang="en-US" sz="1600" dirty="0"/>
              <a:t>             - In the 'input' directory, open the ‘</a:t>
            </a:r>
            <a:r>
              <a:rPr lang="en-US" sz="1600" dirty="0" err="1"/>
              <a:t>sibr_outopts</a:t>
            </a:r>
            <a:r>
              <a:rPr lang="en-US" sz="1600" dirty="0"/>
              <a:t>’ file</a:t>
            </a:r>
          </a:p>
          <a:p>
            <a:r>
              <a:rPr lang="en-US" sz="1600" dirty="0"/>
              <a:t>             - To turn each variable output on/off, </a:t>
            </a:r>
          </a:p>
          <a:p>
            <a:r>
              <a:rPr lang="en-US" sz="1600" dirty="0"/>
              <a:t>                alter the first two columns</a:t>
            </a:r>
          </a:p>
          <a:p>
            <a:r>
              <a:rPr lang="en-US" sz="1600" dirty="0"/>
              <a:t>                Column 1) T = Restart Files</a:t>
            </a:r>
          </a:p>
          <a:p>
            <a:r>
              <a:rPr lang="en-US" sz="1600" dirty="0"/>
              <a:t>                Column 2) T = Equilibrium Restart Files</a:t>
            </a:r>
          </a:p>
          <a:p>
            <a:r>
              <a:rPr lang="en-US" sz="1600" dirty="0"/>
              <a:t>             - Change the variable default value (last column)</a:t>
            </a:r>
          </a:p>
          <a:p>
            <a:r>
              <a:rPr lang="en-US" sz="1600" dirty="0"/>
              <a:t>                 -&gt; For temperatures, values &lt; 0 use closest driver data</a:t>
            </a:r>
          </a:p>
          <a:p>
            <a:r>
              <a:rPr lang="en-US" sz="1600" dirty="0"/>
              <a:t>                 -&gt; For snow/soil variables, the same value is used in the entire column</a:t>
            </a:r>
          </a:p>
          <a:p>
            <a:r>
              <a:rPr lang="en-US" sz="1600" dirty="0"/>
              <a:t>                 -&gt; For soil moisture (</a:t>
            </a:r>
            <a:r>
              <a:rPr lang="en-US" sz="1600" dirty="0" err="1"/>
              <a:t>www_liq</a:t>
            </a:r>
            <a:r>
              <a:rPr lang="en-US" sz="1600" dirty="0"/>
              <a:t>/ice), if the default value is less than 1.e</a:t>
            </a:r>
            <a:r>
              <a:rPr lang="en-US" sz="1600" baseline="30000" dirty="0"/>
              <a:t>-12</a:t>
            </a:r>
            <a:r>
              <a:rPr lang="en-US" sz="1600" dirty="0"/>
              <a:t>,</a:t>
            </a:r>
          </a:p>
          <a:p>
            <a:r>
              <a:rPr lang="en-US" sz="1600" dirty="0"/>
              <a:t>                      then the initial value is set to saturation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915DD7-E70A-CD48-950E-C72487A881E6}"/>
              </a:ext>
            </a:extLst>
          </p:cNvPr>
          <p:cNvSpPr txBox="1"/>
          <p:nvPr/>
        </p:nvSpPr>
        <p:spPr>
          <a:xfrm>
            <a:off x="11335871" y="-1277471"/>
            <a:ext cx="1847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6185D73-9002-7C44-8D29-2C22A7D9C45A}"/>
              </a:ext>
            </a:extLst>
          </p:cNvPr>
          <p:cNvCxnSpPr>
            <a:cxnSpLocks/>
          </p:cNvCxnSpPr>
          <p:nvPr/>
        </p:nvCxnSpPr>
        <p:spPr>
          <a:xfrm flipH="1" flipV="1">
            <a:off x="4470400" y="5357746"/>
            <a:ext cx="2136841" cy="851357"/>
          </a:xfrm>
          <a:prstGeom prst="line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E701E82-8D08-144E-9F32-88BCCF025A50}"/>
              </a:ext>
            </a:extLst>
          </p:cNvPr>
          <p:cNvCxnSpPr>
            <a:cxnSpLocks/>
          </p:cNvCxnSpPr>
          <p:nvPr/>
        </p:nvCxnSpPr>
        <p:spPr>
          <a:xfrm flipV="1">
            <a:off x="3990478" y="5340985"/>
            <a:ext cx="0" cy="431332"/>
          </a:xfrm>
          <a:prstGeom prst="line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87D61AF-B296-3344-AAB5-5178D943C4B7}"/>
              </a:ext>
            </a:extLst>
          </p:cNvPr>
          <p:cNvSpPr txBox="1"/>
          <p:nvPr/>
        </p:nvSpPr>
        <p:spPr>
          <a:xfrm>
            <a:off x="2725957" y="5811293"/>
            <a:ext cx="24971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Variable number used to</a:t>
            </a:r>
          </a:p>
          <a:p>
            <a:r>
              <a:rPr lang="en-US" dirty="0"/>
              <a:t>match the code variable</a:t>
            </a:r>
          </a:p>
          <a:p>
            <a:r>
              <a:rPr lang="en-US" dirty="0"/>
              <a:t>(non-changeable)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F19AAAD-64BB-8046-9C14-20A85AE50CD3}"/>
              </a:ext>
            </a:extLst>
          </p:cNvPr>
          <p:cNvCxnSpPr>
            <a:cxnSpLocks/>
          </p:cNvCxnSpPr>
          <p:nvPr/>
        </p:nvCxnSpPr>
        <p:spPr>
          <a:xfrm flipV="1">
            <a:off x="1573306" y="5312576"/>
            <a:ext cx="291986" cy="1068146"/>
          </a:xfrm>
          <a:prstGeom prst="line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31858B-0EAD-2C4E-9C9A-153714C1823E}"/>
              </a:ext>
            </a:extLst>
          </p:cNvPr>
          <p:cNvSpPr txBox="1"/>
          <p:nvPr/>
        </p:nvSpPr>
        <p:spPr>
          <a:xfrm>
            <a:off x="275729" y="6361818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Variable name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41FD30-3269-214D-B694-11ACF512055A}"/>
              </a:ext>
            </a:extLst>
          </p:cNvPr>
          <p:cNvSpPr txBox="1"/>
          <p:nvPr/>
        </p:nvSpPr>
        <p:spPr>
          <a:xfrm>
            <a:off x="5237629" y="345473"/>
            <a:ext cx="3671047" cy="1754326"/>
          </a:xfrm>
          <a:prstGeom prst="rect">
            <a:avLst/>
          </a:prstGeom>
          <a:noFill/>
          <a:ln>
            <a:solidFill>
              <a:schemeClr val="tx1">
                <a:alpha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SiB4 has the capability to change both the prognostic variables being output in the restart files and the default values of these variables; however, this is likely not going to be changed for a typical simulation.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9BA269-769F-1C49-8491-F808DDE598F7}"/>
              </a:ext>
            </a:extLst>
          </p:cNvPr>
          <p:cNvSpPr txBox="1"/>
          <p:nvPr/>
        </p:nvSpPr>
        <p:spPr>
          <a:xfrm>
            <a:off x="208322" y="146156"/>
            <a:ext cx="32025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SiB4 Input File: Restart Output</a:t>
            </a:r>
            <a:endParaRPr lang="en-US" dirty="0">
              <a:latin typeface="Helvetica"/>
              <a:cs typeface="Helvetic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246DD4-13B5-2543-AE83-225C766F5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693" y="4242267"/>
            <a:ext cx="3416300" cy="10160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365AE0-0986-2F4F-A187-C37E9051598D}"/>
              </a:ext>
            </a:extLst>
          </p:cNvPr>
          <p:cNvSpPr txBox="1"/>
          <p:nvPr/>
        </p:nvSpPr>
        <p:spPr>
          <a:xfrm>
            <a:off x="6698472" y="5949792"/>
            <a:ext cx="1744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 default value</a:t>
            </a:r>
          </a:p>
        </p:txBody>
      </p:sp>
    </p:spTree>
    <p:extLst>
      <p:ext uri="{BB962C8B-B14F-4D97-AF65-F5344CB8AC3E}">
        <p14:creationId xmlns:p14="http://schemas.microsoft.com/office/powerpoint/2010/main" val="3664777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48243" y="203433"/>
            <a:ext cx="35961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Helvetica"/>
                <a:cs typeface="Helvetica"/>
              </a:rPr>
              <a:t>SiB4 Input Files: Parameters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50E16-66A4-3B4C-8719-7A6966B85B03}"/>
              </a:ext>
            </a:extLst>
          </p:cNvPr>
          <p:cNvSpPr txBox="1"/>
          <p:nvPr/>
        </p:nvSpPr>
        <p:spPr>
          <a:xfrm>
            <a:off x="874059" y="1685596"/>
            <a:ext cx="739588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>
              <a:buFont typeface="Arial" panose="020B0604020202020204" pitchFamily="34" charset="0"/>
              <a:buChar char="•"/>
            </a:pPr>
            <a:r>
              <a:rPr lang="en-US" dirty="0"/>
              <a:t>  Change any parameters (if necessary)</a:t>
            </a:r>
          </a:p>
          <a:p>
            <a:r>
              <a:rPr lang="en-US" sz="1600" dirty="0"/>
              <a:t>           - Change to the 'input/</a:t>
            </a:r>
            <a:r>
              <a:rPr lang="en-US" sz="1600" dirty="0" err="1"/>
              <a:t>params</a:t>
            </a:r>
            <a:r>
              <a:rPr lang="en-US" sz="1600" dirty="0"/>
              <a:t>' directory</a:t>
            </a:r>
          </a:p>
          <a:p>
            <a:r>
              <a:rPr lang="en-US" sz="1600" dirty="0"/>
              <a:t>           - Alter any of the phenology, physiology, or pool parameters</a:t>
            </a:r>
          </a:p>
          <a:p>
            <a:r>
              <a:rPr lang="en-US" sz="1600" dirty="0"/>
              <a:t>              + Phenology Variables</a:t>
            </a:r>
          </a:p>
          <a:p>
            <a:r>
              <a:rPr lang="en-US" sz="1600" dirty="0"/>
              <a:t>                   </a:t>
            </a:r>
            <a:r>
              <a:rPr lang="en-US" sz="1600" dirty="0" err="1"/>
              <a:t>phen_gdd.dat</a:t>
            </a:r>
            <a:r>
              <a:rPr lang="en-US" sz="1600" dirty="0"/>
              <a:t> = Growing Degree-Day Defined Phenology Parameters (crops)</a:t>
            </a:r>
          </a:p>
          <a:p>
            <a:r>
              <a:rPr lang="en-US" sz="1600" dirty="0"/>
              <a:t>                   </a:t>
            </a:r>
            <a:r>
              <a:rPr lang="en-US" sz="1600" dirty="0" err="1"/>
              <a:t>phen_stg.dat</a:t>
            </a:r>
            <a:r>
              <a:rPr lang="en-US" sz="1600" dirty="0"/>
              <a:t> = Stage-Based Dynamic Phenology Parameters (non-crops)</a:t>
            </a:r>
          </a:p>
          <a:p>
            <a:r>
              <a:rPr lang="en-US" sz="1600" dirty="0"/>
              <a:t>             + Physiology variables </a:t>
            </a:r>
          </a:p>
          <a:p>
            <a:r>
              <a:rPr lang="en-US" sz="1600" dirty="0"/>
              <a:t>                   </a:t>
            </a:r>
            <a:r>
              <a:rPr lang="en-US" sz="1600" dirty="0" err="1"/>
              <a:t>sib_aero.nc</a:t>
            </a:r>
            <a:r>
              <a:rPr lang="en-US" sz="1600" dirty="0"/>
              <a:t> = Aerodynamic/Boundary Layer Parameters</a:t>
            </a:r>
          </a:p>
          <a:p>
            <a:r>
              <a:rPr lang="en-US" sz="1600" dirty="0"/>
              <a:t>                   </a:t>
            </a:r>
            <a:r>
              <a:rPr lang="en-US" sz="1600" dirty="0" err="1"/>
              <a:t>sib_phys.dat</a:t>
            </a:r>
            <a:r>
              <a:rPr lang="en-US" sz="1600" dirty="0"/>
              <a:t> = Physiological Parameters</a:t>
            </a:r>
          </a:p>
          <a:p>
            <a:r>
              <a:rPr lang="en-US" sz="1600" dirty="0"/>
              <a:t>             + Pool Values</a:t>
            </a:r>
          </a:p>
          <a:p>
            <a:r>
              <a:rPr lang="en-US" sz="1600" dirty="0"/>
              <a:t>                   </a:t>
            </a:r>
            <a:r>
              <a:rPr lang="en-US" sz="1600" dirty="0" err="1"/>
              <a:t>sib_pool.dat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87169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15479" y="366964"/>
            <a:ext cx="297069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Running SiB4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2051" y="5616408"/>
            <a:ext cx="4171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 Run SiB4</a:t>
            </a:r>
          </a:p>
          <a:p>
            <a:r>
              <a:rPr lang="en-US" dirty="0"/>
              <a:t>          - In the main directory, type './SiB4D’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051" y="1135102"/>
            <a:ext cx="856619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</a:t>
            </a:r>
            <a:r>
              <a:rPr lang="en-US" b="1" dirty="0"/>
              <a:t>Spin-Up SiB4: </a:t>
            </a:r>
            <a:r>
              <a:rPr lang="en-US" dirty="0"/>
              <a:t>Perform a spin-up simulation to acquire balanced carbon pools </a:t>
            </a:r>
          </a:p>
          <a:p>
            <a:r>
              <a:rPr lang="en-US" dirty="0"/>
              <a:t>   (for site simulations only, for global simulations preferably use a provided restart file)</a:t>
            </a:r>
          </a:p>
          <a:p>
            <a:r>
              <a:rPr lang="en-US" dirty="0"/>
              <a:t>         - Setup a </a:t>
            </a:r>
            <a:r>
              <a:rPr lang="en-US" dirty="0" err="1"/>
              <a:t>spinup</a:t>
            </a:r>
            <a:r>
              <a:rPr lang="en-US" dirty="0"/>
              <a:t> simulation</a:t>
            </a:r>
          </a:p>
          <a:p>
            <a:r>
              <a:rPr lang="en-US" dirty="0"/>
              <a:t>            + Set the '</a:t>
            </a:r>
            <a:r>
              <a:rPr lang="en-US" dirty="0" err="1"/>
              <a:t>spinup</a:t>
            </a:r>
            <a:r>
              <a:rPr lang="en-US" dirty="0"/>
              <a:t>' flag to true</a:t>
            </a:r>
          </a:p>
          <a:p>
            <a:r>
              <a:rPr lang="en-US" dirty="0"/>
              <a:t>            + Specify the number of years to use in the </a:t>
            </a:r>
            <a:r>
              <a:rPr lang="en-US" dirty="0" err="1"/>
              <a:t>spinup</a:t>
            </a:r>
            <a:r>
              <a:rPr lang="en-US" dirty="0"/>
              <a:t> calculation (</a:t>
            </a:r>
            <a:r>
              <a:rPr lang="en-US" dirty="0" err="1"/>
              <a:t>spinup_numyrs</a:t>
            </a:r>
            <a:r>
              <a:rPr lang="en-US" dirty="0"/>
              <a:t>)</a:t>
            </a:r>
          </a:p>
          <a:p>
            <a:r>
              <a:rPr lang="en-US" dirty="0"/>
              <a:t>            + Specify the maximum number of iterations for the </a:t>
            </a:r>
            <a:r>
              <a:rPr lang="en-US" dirty="0" err="1"/>
              <a:t>spinup</a:t>
            </a:r>
            <a:r>
              <a:rPr lang="en-US" dirty="0"/>
              <a:t> (</a:t>
            </a:r>
            <a:r>
              <a:rPr lang="en-US" dirty="0" err="1"/>
              <a:t>spinup_maxiter</a:t>
            </a:r>
            <a:r>
              <a:rPr lang="en-US" dirty="0"/>
              <a:t>)</a:t>
            </a:r>
          </a:p>
          <a:p>
            <a:r>
              <a:rPr lang="en-US" dirty="0"/>
              <a:t>            + Specify the threshold required to declare pools balanced (</a:t>
            </a:r>
            <a:r>
              <a:rPr lang="en-US" dirty="0" err="1"/>
              <a:t>spinup_threshold</a:t>
            </a:r>
            <a:r>
              <a:rPr lang="en-US" dirty="0"/>
              <a:t>)</a:t>
            </a:r>
          </a:p>
          <a:p>
            <a:r>
              <a:rPr lang="en-US" dirty="0"/>
              <a:t>            + Specify whether to save output during the </a:t>
            </a:r>
            <a:r>
              <a:rPr lang="en-US" dirty="0" err="1"/>
              <a:t>spinup</a:t>
            </a:r>
            <a:r>
              <a:rPr lang="en-US" dirty="0"/>
              <a:t> (</a:t>
            </a:r>
            <a:r>
              <a:rPr lang="en-US" dirty="0" err="1"/>
              <a:t>spinup_writediag</a:t>
            </a:r>
            <a:r>
              <a:rPr lang="en-US" dirty="0"/>
              <a:t>/</a:t>
            </a:r>
            <a:r>
              <a:rPr lang="en-US" dirty="0" err="1"/>
              <a:t>writetxtf</a:t>
            </a:r>
            <a:r>
              <a:rPr lang="en-US" dirty="0"/>
              <a:t>)</a:t>
            </a:r>
          </a:p>
          <a:p>
            <a:r>
              <a:rPr lang="en-US" dirty="0"/>
              <a:t>          - Run a </a:t>
            </a:r>
            <a:r>
              <a:rPr lang="en-US" dirty="0" err="1"/>
              <a:t>spinup</a:t>
            </a:r>
            <a:r>
              <a:rPr lang="en-US" dirty="0"/>
              <a:t> simulation, save necessary output, and setup a regular simulation</a:t>
            </a:r>
          </a:p>
          <a:p>
            <a:r>
              <a:rPr lang="en-US" dirty="0"/>
              <a:t>            + In the main directory, type ‘./SiB4D’</a:t>
            </a:r>
          </a:p>
          <a:p>
            <a:r>
              <a:rPr lang="en-US" dirty="0"/>
              <a:t>            + Following the simulation, save the equilibrium restart file (</a:t>
            </a:r>
            <a:r>
              <a:rPr lang="en-US" dirty="0" err="1"/>
              <a:t>sib_requib.nc</a:t>
            </a:r>
            <a:r>
              <a:rPr lang="en-US" dirty="0"/>
              <a:t>)</a:t>
            </a:r>
          </a:p>
          <a:p>
            <a:r>
              <a:rPr lang="en-US" dirty="0"/>
              <a:t>            + In the </a:t>
            </a:r>
            <a:r>
              <a:rPr lang="en-US" dirty="0" err="1"/>
              <a:t>namel_sibdrv</a:t>
            </a:r>
            <a:r>
              <a:rPr lang="en-US" dirty="0"/>
              <a:t> file:</a:t>
            </a:r>
          </a:p>
          <a:p>
            <a:r>
              <a:rPr lang="en-US" dirty="0"/>
              <a:t>                -- Set the initial condition file to the newly-created restart file</a:t>
            </a:r>
          </a:p>
          <a:p>
            <a:r>
              <a:rPr lang="en-US" dirty="0"/>
              <a:t>                -- Set the </a:t>
            </a:r>
            <a:r>
              <a:rPr lang="en-US" dirty="0" err="1"/>
              <a:t>spinup</a:t>
            </a:r>
            <a:r>
              <a:rPr lang="en-US" dirty="0"/>
              <a:t> flag to false</a:t>
            </a:r>
          </a:p>
        </p:txBody>
      </p:sp>
    </p:spTree>
    <p:extLst>
      <p:ext uri="{BB962C8B-B14F-4D97-AF65-F5344CB8AC3E}">
        <p14:creationId xmlns:p14="http://schemas.microsoft.com/office/powerpoint/2010/main" val="2549941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23612" y="479802"/>
            <a:ext cx="4696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Additional SiB4 Notes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2007" y="1469472"/>
            <a:ext cx="839998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SiB4 can be run using multiple processors.</a:t>
            </a:r>
          </a:p>
          <a:p>
            <a:r>
              <a:rPr lang="en-US" dirty="0"/>
              <a:t>     This is done by dividing up the points into separate chunks that are run individually.</a:t>
            </a:r>
          </a:p>
          <a:p>
            <a:r>
              <a:rPr lang="en-US" dirty="0"/>
              <a:t>     To run a single chunk, at the prompt type:</a:t>
            </a:r>
          </a:p>
          <a:p>
            <a:r>
              <a:rPr lang="en-US" dirty="0"/>
              <a:t>        &gt;./SiB4D rank </a:t>
            </a:r>
            <a:r>
              <a:rPr lang="en-US" dirty="0" err="1"/>
              <a:t>nchunks</a:t>
            </a:r>
            <a:endParaRPr lang="en-US" dirty="0"/>
          </a:p>
          <a:p>
            <a:r>
              <a:rPr lang="en-US" dirty="0"/>
              <a:t>           - Rank specifies which process number</a:t>
            </a:r>
          </a:p>
          <a:p>
            <a:r>
              <a:rPr lang="en-US" dirty="0"/>
              <a:t>           - </a:t>
            </a:r>
            <a:r>
              <a:rPr lang="en-US" dirty="0" err="1"/>
              <a:t>Nchunks</a:t>
            </a:r>
            <a:r>
              <a:rPr lang="en-US" dirty="0"/>
              <a:t> specifies the total number of processes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SiB4 can be run specifying the location of </a:t>
            </a:r>
            <a:r>
              <a:rPr lang="en-US" dirty="0" err="1"/>
              <a:t>namel_sibdrv</a:t>
            </a:r>
            <a:r>
              <a:rPr lang="en-US" dirty="0"/>
              <a:t>,</a:t>
            </a:r>
          </a:p>
          <a:p>
            <a:r>
              <a:rPr lang="en-US" dirty="0"/>
              <a:t>   rather than requiring the name-list to be in the same directory as the executable</a:t>
            </a:r>
          </a:p>
          <a:p>
            <a:r>
              <a:rPr lang="en-US" dirty="0"/>
              <a:t>   At the prompt:   &gt;./SiB4D /directory/</a:t>
            </a:r>
            <a:r>
              <a:rPr lang="en-US" dirty="0" err="1"/>
              <a:t>namel_sibdrv</a:t>
            </a:r>
            <a:endParaRPr lang="en-US" dirty="0"/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Instructions for running SiB4 global simulations are in the ‘info/all/</a:t>
            </a:r>
            <a:r>
              <a:rPr lang="en-US" dirty="0" err="1"/>
              <a:t>README_run</a:t>
            </a:r>
            <a:r>
              <a:rPr lang="en-US" dirty="0"/>
              <a:t>’ file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Instructions for running SiB4 site simulations are in the ‘info/sites/</a:t>
            </a:r>
            <a:r>
              <a:rPr lang="en-US" dirty="0" err="1"/>
              <a:t>README_site</a:t>
            </a:r>
            <a:r>
              <a:rPr lang="en-US" dirty="0"/>
              <a:t>’ file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Instructions for running SiB4 at a sample site (all data provided) are in both the</a:t>
            </a:r>
          </a:p>
          <a:p>
            <a:r>
              <a:rPr lang="en-US" dirty="0"/>
              <a:t>    ‘info/sites/</a:t>
            </a:r>
            <a:r>
              <a:rPr lang="en-US" dirty="0" err="1"/>
              <a:t>README_sample</a:t>
            </a:r>
            <a:r>
              <a:rPr lang="en-US" dirty="0"/>
              <a:t>’ file and the ‘info/</a:t>
            </a:r>
            <a:r>
              <a:rPr lang="en-US" dirty="0" err="1"/>
              <a:t>README_start</a:t>
            </a:r>
            <a:r>
              <a:rPr lang="en-US" dirty="0"/>
              <a:t>’ file</a:t>
            </a:r>
          </a:p>
        </p:txBody>
      </p:sp>
    </p:spTree>
    <p:extLst>
      <p:ext uri="{BB962C8B-B14F-4D97-AF65-F5344CB8AC3E}">
        <p14:creationId xmlns:p14="http://schemas.microsoft.com/office/powerpoint/2010/main" val="2039258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738" y="118610"/>
            <a:ext cx="8014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Running SiB4 on Multiple Processors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8128" y="796210"/>
            <a:ext cx="8611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a machine with multiple cores that does not require job submission/queuing, there are scripts in the ‘scripts’ directory that will start and check multiple simulations at once.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6585A9-5662-D147-971D-0172571F940F}"/>
              </a:ext>
            </a:extLst>
          </p:cNvPr>
          <p:cNvSpPr txBox="1"/>
          <p:nvPr/>
        </p:nvSpPr>
        <p:spPr>
          <a:xfrm>
            <a:off x="265626" y="2584843"/>
            <a:ext cx="399064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site simulations:</a:t>
            </a:r>
          </a:p>
          <a:p>
            <a:r>
              <a:rPr lang="en-US" dirty="0"/>
              <a:t>  -- Create a name-list file for each site</a:t>
            </a:r>
          </a:p>
          <a:p>
            <a:r>
              <a:rPr lang="en-US" dirty="0"/>
              <a:t>  -- Copy the </a:t>
            </a:r>
            <a:r>
              <a:rPr lang="en-US" dirty="0" err="1"/>
              <a:t>ccrunsibs</a:t>
            </a:r>
            <a:r>
              <a:rPr lang="en-US" dirty="0"/>
              <a:t> script into the </a:t>
            </a:r>
          </a:p>
          <a:p>
            <a:r>
              <a:rPr lang="en-US" dirty="0"/>
              <a:t>      main directory</a:t>
            </a:r>
          </a:p>
          <a:p>
            <a:r>
              <a:rPr lang="en-US" dirty="0"/>
              <a:t>  -- Edit the script</a:t>
            </a:r>
          </a:p>
          <a:p>
            <a:r>
              <a:rPr lang="en-US" dirty="0"/>
              <a:t>      -&gt; Change the location/names of the </a:t>
            </a:r>
          </a:p>
          <a:p>
            <a:r>
              <a:rPr lang="en-US" dirty="0"/>
              <a:t>           individual site </a:t>
            </a:r>
            <a:r>
              <a:rPr lang="en-US" dirty="0" err="1"/>
              <a:t>namel_sibdrv</a:t>
            </a:r>
            <a:r>
              <a:rPr lang="en-US" dirty="0"/>
              <a:t> files</a:t>
            </a:r>
          </a:p>
          <a:p>
            <a:r>
              <a:rPr lang="en-US" dirty="0"/>
              <a:t>      -&gt; Change the screen output files</a:t>
            </a:r>
          </a:p>
          <a:p>
            <a:r>
              <a:rPr lang="en-US" dirty="0"/>
              <a:t>           (after the ‘&gt;’ symbol, make sure</a:t>
            </a:r>
          </a:p>
          <a:p>
            <a:r>
              <a:rPr lang="en-US" dirty="0"/>
              <a:t>             each one has a different name)</a:t>
            </a:r>
          </a:p>
          <a:p>
            <a:r>
              <a:rPr lang="en-US" dirty="0"/>
              <a:t>  -- Run the script (type ‘</a:t>
            </a:r>
            <a:r>
              <a:rPr lang="en-US" dirty="0" err="1"/>
              <a:t>ccrunsibs</a:t>
            </a:r>
            <a:r>
              <a:rPr lang="en-US" dirty="0"/>
              <a:t>’ at</a:t>
            </a:r>
          </a:p>
          <a:p>
            <a:r>
              <a:rPr lang="en-US" dirty="0"/>
              <a:t>     the prompt in the main directory)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9C49AE-9001-1B4E-BB90-B344111EF370}"/>
              </a:ext>
            </a:extLst>
          </p:cNvPr>
          <p:cNvSpPr txBox="1"/>
          <p:nvPr/>
        </p:nvSpPr>
        <p:spPr>
          <a:xfrm>
            <a:off x="4706471" y="2169345"/>
            <a:ext cx="41719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global simulations:</a:t>
            </a:r>
          </a:p>
          <a:p>
            <a:r>
              <a:rPr lang="en-US" dirty="0"/>
              <a:t>  -- Copy the </a:t>
            </a:r>
            <a:r>
              <a:rPr lang="en-US" dirty="0" err="1"/>
              <a:t>ccrunsibg</a:t>
            </a:r>
            <a:r>
              <a:rPr lang="en-US" dirty="0"/>
              <a:t> script into the </a:t>
            </a:r>
          </a:p>
          <a:p>
            <a:r>
              <a:rPr lang="en-US" dirty="0"/>
              <a:t>      main directory</a:t>
            </a:r>
          </a:p>
          <a:p>
            <a:r>
              <a:rPr lang="en-US" dirty="0"/>
              <a:t>  -- Edit the script</a:t>
            </a:r>
          </a:p>
          <a:p>
            <a:r>
              <a:rPr lang="en-US" dirty="0"/>
              <a:t>      -&gt; Check the number of processes</a:t>
            </a:r>
          </a:p>
          <a:p>
            <a:r>
              <a:rPr lang="en-US" dirty="0"/>
              <a:t>           (second number of command is           </a:t>
            </a:r>
          </a:p>
          <a:p>
            <a:r>
              <a:rPr lang="en-US" dirty="0"/>
              <a:t>             the total </a:t>
            </a:r>
            <a:r>
              <a:rPr lang="en-US" dirty="0" err="1"/>
              <a:t>nchunks</a:t>
            </a:r>
            <a:r>
              <a:rPr lang="en-US" dirty="0"/>
              <a:t>)</a:t>
            </a:r>
          </a:p>
          <a:p>
            <a:r>
              <a:rPr lang="en-US" dirty="0"/>
              <a:t>      -&gt; Check that each process is included      </a:t>
            </a:r>
          </a:p>
          <a:p>
            <a:r>
              <a:rPr lang="en-US" dirty="0"/>
              <a:t>           on a separate line with incrementing          </a:t>
            </a:r>
          </a:p>
          <a:p>
            <a:r>
              <a:rPr lang="en-US" dirty="0"/>
              <a:t>           numbers (1 through </a:t>
            </a:r>
            <a:r>
              <a:rPr lang="en-US" dirty="0" err="1"/>
              <a:t>nchunks</a:t>
            </a:r>
            <a:r>
              <a:rPr lang="en-US" dirty="0"/>
              <a:t>)</a:t>
            </a:r>
          </a:p>
          <a:p>
            <a:r>
              <a:rPr lang="en-US" dirty="0"/>
              <a:t>      -&gt; Change the screen output files </a:t>
            </a:r>
          </a:p>
          <a:p>
            <a:r>
              <a:rPr lang="en-US" dirty="0"/>
              <a:t>           (after the ‘&gt;’ symbol) </a:t>
            </a:r>
          </a:p>
          <a:p>
            <a:r>
              <a:rPr lang="en-US" dirty="0"/>
              <a:t>-- Run the script (type ‘</a:t>
            </a:r>
            <a:r>
              <a:rPr lang="en-US" dirty="0" err="1"/>
              <a:t>ccrunsibg</a:t>
            </a:r>
            <a:r>
              <a:rPr lang="en-US" dirty="0"/>
              <a:t>’ at</a:t>
            </a:r>
          </a:p>
          <a:p>
            <a:r>
              <a:rPr lang="en-US" dirty="0"/>
              <a:t>     the prompt in the main directory)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94C20-CF40-E441-A404-81A9A3903D94}"/>
              </a:ext>
            </a:extLst>
          </p:cNvPr>
          <p:cNvSpPr txBox="1"/>
          <p:nvPr/>
        </p:nvSpPr>
        <p:spPr>
          <a:xfrm>
            <a:off x="2223959" y="1630124"/>
            <a:ext cx="4489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Starting multiple simultaneous jobs (chunks)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8C9F7D-2C2B-4D46-BD6A-329B517FA664}"/>
              </a:ext>
            </a:extLst>
          </p:cNvPr>
          <p:cNvCxnSpPr>
            <a:cxnSpLocks/>
          </p:cNvCxnSpPr>
          <p:nvPr/>
        </p:nvCxnSpPr>
        <p:spPr>
          <a:xfrm>
            <a:off x="4370294" y="2111190"/>
            <a:ext cx="0" cy="44240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6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738" y="118610"/>
            <a:ext cx="8014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Running SiB4 on Multiple Processors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6585A9-5662-D147-971D-0172571F940F}"/>
              </a:ext>
            </a:extLst>
          </p:cNvPr>
          <p:cNvSpPr txBox="1"/>
          <p:nvPr/>
        </p:nvSpPr>
        <p:spPr>
          <a:xfrm>
            <a:off x="666738" y="1059487"/>
            <a:ext cx="74696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Use one of three scripts to check for running SiB4D processes.</a:t>
            </a:r>
          </a:p>
          <a:p>
            <a:r>
              <a:rPr lang="en-US" sz="1600" dirty="0"/>
              <a:t>To use these scripts without having to go to the ‘scripts’ directory separately,</a:t>
            </a:r>
          </a:p>
          <a:p>
            <a:r>
              <a:rPr lang="en-US" sz="1600" dirty="0"/>
              <a:t>either copy them into your main directory or include the ‘scripts’ directory in your path.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94C20-CF40-E441-A404-81A9A3903D94}"/>
              </a:ext>
            </a:extLst>
          </p:cNvPr>
          <p:cNvSpPr txBox="1"/>
          <p:nvPr/>
        </p:nvSpPr>
        <p:spPr>
          <a:xfrm>
            <a:off x="2373554" y="724207"/>
            <a:ext cx="3677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Checking multiple simultaneous jobs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B897D-DB40-D041-9064-29DC02F6C45A}"/>
              </a:ext>
            </a:extLst>
          </p:cNvPr>
          <p:cNvSpPr txBox="1"/>
          <p:nvPr/>
        </p:nvSpPr>
        <p:spPr>
          <a:xfrm>
            <a:off x="470137" y="2001229"/>
            <a:ext cx="820372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ccdonesib</a:t>
            </a:r>
            <a:r>
              <a:rPr lang="en-US" sz="1600" b="1" dirty="0"/>
              <a:t>:</a:t>
            </a:r>
            <a:r>
              <a:rPr lang="en-US" sz="1600" dirty="0"/>
              <a:t> Performs a check to see the status of all processes.  </a:t>
            </a:r>
          </a:p>
          <a:p>
            <a:r>
              <a:rPr lang="en-US" sz="1600" dirty="0"/>
              <a:t>   To use, edit the script to specify:</a:t>
            </a:r>
          </a:p>
          <a:p>
            <a:r>
              <a:rPr lang="en-US" sz="1600" dirty="0"/>
              <a:t>      -- Total number of processes being run (</a:t>
            </a:r>
            <a:r>
              <a:rPr lang="en-US" sz="1600" dirty="0" err="1"/>
              <a:t>nprocs</a:t>
            </a:r>
            <a:r>
              <a:rPr lang="en-US" sz="1600" dirty="0"/>
              <a:t>)</a:t>
            </a:r>
          </a:p>
          <a:p>
            <a:r>
              <a:rPr lang="en-US" sz="1600" dirty="0"/>
              <a:t>      -- Screen output file directory, filename prefix and filename suffix</a:t>
            </a:r>
          </a:p>
          <a:p>
            <a:r>
              <a:rPr lang="en-US" sz="1600" dirty="0"/>
              <a:t>      -- Executable (main process) name (i.e. SiB4D by default)</a:t>
            </a:r>
          </a:p>
          <a:p>
            <a:r>
              <a:rPr lang="en-US" sz="1600" dirty="0"/>
              <a:t>   Returns a list:</a:t>
            </a:r>
          </a:p>
          <a:p>
            <a:r>
              <a:rPr lang="en-US" sz="1600" dirty="0"/>
              <a:t>      -- Number of processes checking (</a:t>
            </a:r>
            <a:r>
              <a:rPr lang="en-US" sz="1600" dirty="0" err="1"/>
              <a:t>nprocs</a:t>
            </a:r>
            <a:r>
              <a:rPr lang="en-US" sz="1600" dirty="0"/>
              <a:t>)</a:t>
            </a:r>
          </a:p>
          <a:p>
            <a:r>
              <a:rPr lang="en-US" sz="1600" dirty="0"/>
              <a:t>      -- Number still running</a:t>
            </a:r>
          </a:p>
          <a:p>
            <a:r>
              <a:rPr lang="en-US" sz="1600" dirty="0"/>
              <a:t>      -- Number that have finished successfully</a:t>
            </a:r>
          </a:p>
          <a:p>
            <a:r>
              <a:rPr lang="en-US" sz="1600" dirty="0"/>
              <a:t>      -- Number that are not done (including those that did not finish successfully)</a:t>
            </a:r>
          </a:p>
          <a:p>
            <a:r>
              <a:rPr lang="en-US" sz="1600" dirty="0"/>
              <a:t>      -- Number missing (no screen output saved)</a:t>
            </a:r>
          </a:p>
          <a:p>
            <a:endParaRPr lang="en-US" sz="1600" dirty="0"/>
          </a:p>
          <a:p>
            <a:r>
              <a:rPr lang="en-US" sz="1600" b="1" dirty="0" err="1"/>
              <a:t>cchecksib</a:t>
            </a:r>
            <a:r>
              <a:rPr lang="en-US" sz="1600" b="1" dirty="0"/>
              <a:t>: </a:t>
            </a:r>
            <a:r>
              <a:rPr lang="en-US" sz="1600" dirty="0"/>
              <a:t>Looks for all running executables (main processes, SiB4D unless otherwise specified).     </a:t>
            </a:r>
          </a:p>
          <a:p>
            <a:r>
              <a:rPr lang="en-US" sz="1600" dirty="0"/>
              <a:t>   Returns:</a:t>
            </a:r>
          </a:p>
          <a:p>
            <a:r>
              <a:rPr lang="en-US" sz="1600" dirty="0"/>
              <a:t>       -- ‘Done’ if all are done</a:t>
            </a:r>
          </a:p>
          <a:p>
            <a:r>
              <a:rPr lang="en-US" sz="1600" dirty="0"/>
              <a:t>       -- Prints a message if some are still running, </a:t>
            </a:r>
          </a:p>
          <a:p>
            <a:r>
              <a:rPr lang="en-US" sz="1600" dirty="0"/>
              <a:t>           and stays running until all processes are done or the script is stopped</a:t>
            </a:r>
          </a:p>
          <a:p>
            <a:endParaRPr lang="en-US" sz="1600" dirty="0"/>
          </a:p>
          <a:p>
            <a:r>
              <a:rPr lang="en-US" sz="1600" b="1" dirty="0" err="1"/>
              <a:t>ccnumsib</a:t>
            </a:r>
            <a:r>
              <a:rPr lang="en-US" sz="1600" b="1" dirty="0"/>
              <a:t>:  </a:t>
            </a:r>
            <a:r>
              <a:rPr lang="en-US" sz="1600" dirty="0"/>
              <a:t>Looks for all running executables and returns the number found.   </a:t>
            </a:r>
          </a:p>
        </p:txBody>
      </p:sp>
    </p:spTree>
    <p:extLst>
      <p:ext uri="{BB962C8B-B14F-4D97-AF65-F5344CB8AC3E}">
        <p14:creationId xmlns:p14="http://schemas.microsoft.com/office/powerpoint/2010/main" val="1453650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6609" y="53123"/>
            <a:ext cx="689113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Viewing SiB4 Output: SiB4Plot</a:t>
            </a:r>
            <a:endParaRPr lang="en-US" sz="3200" dirty="0">
              <a:latin typeface="Helvetica"/>
              <a:cs typeface="Helvetic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0104" y="1185604"/>
            <a:ext cx="3801041" cy="2862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dirty="0">
                <a:ea typeface="Wingdings"/>
                <a:cs typeface="Wingdings"/>
                <a:sym typeface="Wingdings"/>
              </a:rPr>
              <a:t> </a:t>
            </a:r>
            <a:r>
              <a:rPr lang="en-US" dirty="0"/>
              <a:t>IDL program to view </a:t>
            </a:r>
            <a:r>
              <a:rPr lang="en-US" dirty="0" err="1"/>
              <a:t>netcdf</a:t>
            </a:r>
            <a:r>
              <a:rPr lang="en-US" dirty="0"/>
              <a:t> files</a:t>
            </a:r>
          </a:p>
          <a:p>
            <a:r>
              <a:rPr lang="en-US" dirty="0"/>
              <a:t>      + SiB4 Output   </a:t>
            </a:r>
          </a:p>
          <a:p>
            <a:r>
              <a:rPr lang="en-US" dirty="0"/>
              <a:t>      + SiB4 Restart Files  </a:t>
            </a:r>
          </a:p>
          <a:p>
            <a:r>
              <a:rPr lang="en-US" dirty="0"/>
              <a:t>      + SiB4 Driver Data</a:t>
            </a:r>
          </a:p>
          <a:p>
            <a:r>
              <a:rPr lang="en-US" dirty="0"/>
              <a:t>      + Generic Gridded </a:t>
            </a:r>
            <a:r>
              <a:rPr lang="en-US" dirty="0" err="1"/>
              <a:t>Netcdf</a:t>
            </a:r>
            <a:r>
              <a:rPr lang="en-US" dirty="0"/>
              <a:t> Files  </a:t>
            </a:r>
          </a:p>
          <a:p>
            <a:r>
              <a:rPr lang="en-US" dirty="0"/>
              <a:t>      + 2-D </a:t>
            </a:r>
            <a:r>
              <a:rPr lang="en-US" dirty="0" err="1"/>
              <a:t>Netcdf</a:t>
            </a:r>
            <a:r>
              <a:rPr lang="en-US" dirty="0"/>
              <a:t> Files</a:t>
            </a:r>
          </a:p>
          <a:p>
            <a:r>
              <a:rPr lang="en-US" dirty="0"/>
              <a:t>      + Saved plots created with SiB4Plot</a:t>
            </a:r>
          </a:p>
          <a:p>
            <a:r>
              <a:rPr lang="en-US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dirty="0">
                <a:ea typeface="Wingdings"/>
                <a:cs typeface="Wingdings"/>
                <a:sym typeface="Wingdings"/>
              </a:rPr>
              <a:t> </a:t>
            </a:r>
            <a:r>
              <a:rPr lang="en-US" dirty="0"/>
              <a:t>Analogous to </a:t>
            </a:r>
            <a:r>
              <a:rPr lang="en-US" dirty="0" err="1"/>
              <a:t>EZPlot</a:t>
            </a:r>
            <a:endParaRPr lang="en-US" dirty="0"/>
          </a:p>
          <a:p>
            <a:r>
              <a:rPr lang="en-US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dirty="0">
                <a:ea typeface="Wingdings"/>
                <a:cs typeface="Wingdings"/>
                <a:sym typeface="Wingdings"/>
              </a:rPr>
              <a:t> </a:t>
            </a:r>
            <a:r>
              <a:rPr lang="en-US" dirty="0"/>
              <a:t>Instructions for set-up are in the </a:t>
            </a:r>
          </a:p>
          <a:p>
            <a:r>
              <a:rPr lang="en-US" dirty="0"/>
              <a:t>       README file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A9A6E8-37CC-6E49-A398-059D62D34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88241"/>
            <a:ext cx="4191000" cy="57277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8175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53034" y="280014"/>
            <a:ext cx="225286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SiB4 Tools</a:t>
            </a:r>
            <a:endParaRPr lang="en-US" sz="3200" dirty="0">
              <a:latin typeface="Helvetica"/>
              <a:cs typeface="Helvetic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1542" y="1285040"/>
            <a:ext cx="266780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ea typeface="Wingdings"/>
                <a:cs typeface="Wingdings"/>
                <a:sym typeface="Wingdings"/>
              </a:rPr>
              <a:t>  </a:t>
            </a:r>
            <a:r>
              <a:rPr lang="en-US" sz="1200" b="1" dirty="0" err="1">
                <a:ea typeface="Wingdings"/>
                <a:cs typeface="Wingdings"/>
                <a:sym typeface="Wingdings"/>
              </a:rPr>
              <a:t>Tools_Data</a:t>
            </a:r>
            <a:r>
              <a:rPr lang="en-US" sz="1200" b="1" dirty="0">
                <a:ea typeface="Wingdings"/>
                <a:cs typeface="Wingdings"/>
                <a:sym typeface="Wingdings"/>
              </a:rPr>
              <a:t>: </a:t>
            </a:r>
            <a:r>
              <a:rPr lang="en-US" sz="1200" dirty="0">
                <a:ea typeface="Wingdings"/>
                <a:cs typeface="Wingdings"/>
                <a:sym typeface="Wingdings"/>
              </a:rPr>
              <a:t>Fortran and IDL programs to process data</a:t>
            </a:r>
          </a:p>
          <a:p>
            <a:r>
              <a:rPr lang="en-US" sz="1200" dirty="0">
                <a:ea typeface="Wingdings"/>
                <a:cs typeface="Wingdings"/>
                <a:sym typeface="Wingdings"/>
              </a:rPr>
              <a:t>     -&gt; MODIS LAI</a:t>
            </a:r>
          </a:p>
          <a:p>
            <a:r>
              <a:rPr lang="en-US" sz="1200" dirty="0">
                <a:ea typeface="Wingdings"/>
                <a:cs typeface="Wingdings"/>
                <a:sym typeface="Wingdings"/>
              </a:rPr>
              <a:t>     -&gt; </a:t>
            </a:r>
            <a:r>
              <a:rPr lang="en-US" sz="1200" dirty="0" err="1">
                <a:ea typeface="Wingdings"/>
                <a:cs typeface="Wingdings"/>
                <a:sym typeface="Wingdings"/>
              </a:rPr>
              <a:t>FluxNet</a:t>
            </a:r>
            <a:endParaRPr lang="en-US" sz="1200" dirty="0">
              <a:ea typeface="Wingdings"/>
              <a:cs typeface="Wingdings"/>
              <a:sym typeface="Wingdings"/>
            </a:endParaRPr>
          </a:p>
          <a:p>
            <a:endParaRPr lang="en-US" sz="1200" dirty="0">
              <a:ea typeface="Wingdings"/>
              <a:cs typeface="Wingdings"/>
              <a:sym typeface="Wingding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ea typeface="Wingdings"/>
                <a:cs typeface="Wingdings"/>
                <a:sym typeface="Wingdings"/>
              </a:rPr>
              <a:t>  </a:t>
            </a:r>
            <a:r>
              <a:rPr lang="en-US" sz="1200" b="1" dirty="0" err="1">
                <a:ea typeface="Wingdings"/>
                <a:cs typeface="Wingdings"/>
                <a:sym typeface="Wingdings"/>
              </a:rPr>
              <a:t>Tools_Eval</a:t>
            </a:r>
            <a:r>
              <a:rPr lang="en-US" sz="1200" b="1" dirty="0">
                <a:ea typeface="Wingdings"/>
                <a:cs typeface="Wingdings"/>
                <a:sym typeface="Wingdings"/>
              </a:rPr>
              <a:t>: </a:t>
            </a:r>
            <a:r>
              <a:rPr lang="en-US" sz="1200" dirty="0">
                <a:ea typeface="Wingdings"/>
                <a:cs typeface="Wingdings"/>
                <a:sym typeface="Wingdings"/>
              </a:rPr>
              <a:t>Fortran routine to pull out </a:t>
            </a:r>
            <a:r>
              <a:rPr lang="en-US" sz="1200" dirty="0" err="1">
                <a:ea typeface="Wingdings"/>
                <a:cs typeface="Wingdings"/>
                <a:sym typeface="Wingdings"/>
              </a:rPr>
              <a:t>FluxNet</a:t>
            </a:r>
            <a:r>
              <a:rPr lang="en-US" sz="1200" dirty="0">
                <a:ea typeface="Wingdings"/>
                <a:cs typeface="Wingdings"/>
                <a:sym typeface="Wingdings"/>
              </a:rPr>
              <a:t>, MODIS, and SiB4 fluxes/LAI, saving the results in </a:t>
            </a:r>
            <a:r>
              <a:rPr lang="en-US" sz="1200" dirty="0" err="1">
                <a:ea typeface="Wingdings"/>
                <a:cs typeface="Wingdings"/>
                <a:sym typeface="Wingdings"/>
              </a:rPr>
              <a:t>Netcdf</a:t>
            </a:r>
            <a:r>
              <a:rPr lang="en-US" sz="1200" dirty="0">
                <a:ea typeface="Wingdings"/>
                <a:cs typeface="Wingdings"/>
                <a:sym typeface="Wingdings"/>
              </a:rPr>
              <a:t> files for evaluation</a:t>
            </a:r>
          </a:p>
          <a:p>
            <a:endParaRPr lang="en-US" sz="1200" dirty="0">
              <a:ea typeface="Wingdings"/>
              <a:cs typeface="Wingdings"/>
              <a:sym typeface="Wingding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ea typeface="Wingdings"/>
                <a:cs typeface="Wingdings"/>
                <a:sym typeface="Wingdings"/>
              </a:rPr>
              <a:t>  </a:t>
            </a:r>
            <a:r>
              <a:rPr lang="en-US" sz="1200" b="1" dirty="0" err="1">
                <a:ea typeface="Wingdings"/>
                <a:cs typeface="Wingdings"/>
                <a:sym typeface="Wingdings"/>
              </a:rPr>
              <a:t>Tools_GFED</a:t>
            </a:r>
            <a:r>
              <a:rPr lang="en-US" sz="1200" b="1" dirty="0">
                <a:ea typeface="Wingdings"/>
                <a:cs typeface="Wingdings"/>
                <a:sym typeface="Wingdings"/>
              </a:rPr>
              <a:t>:</a:t>
            </a:r>
            <a:r>
              <a:rPr lang="en-US" sz="1200" dirty="0">
                <a:ea typeface="Wingdings"/>
                <a:cs typeface="Wingdings"/>
                <a:sym typeface="Wingdings"/>
              </a:rPr>
              <a:t> Fortran routines to process GFED data for fire emissions</a:t>
            </a:r>
          </a:p>
          <a:p>
            <a:endParaRPr lang="en-US" sz="1200" dirty="0">
              <a:ea typeface="Wingdings"/>
              <a:cs typeface="Wingdings"/>
              <a:sym typeface="Wingding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ea typeface="Wingdings"/>
                <a:cs typeface="Wingdings"/>
                <a:sym typeface="Wingdings"/>
              </a:rPr>
              <a:t>  </a:t>
            </a:r>
            <a:r>
              <a:rPr lang="en-US" sz="1200" b="1" dirty="0" err="1">
                <a:ea typeface="Wingdings"/>
                <a:cs typeface="Wingdings"/>
                <a:sym typeface="Wingdings"/>
              </a:rPr>
              <a:t>Tools_GPCP</a:t>
            </a:r>
            <a:r>
              <a:rPr lang="en-US" sz="1200" b="1" dirty="0">
                <a:ea typeface="Wingdings"/>
                <a:cs typeface="Wingdings"/>
                <a:sym typeface="Wingdings"/>
              </a:rPr>
              <a:t>:</a:t>
            </a:r>
            <a:r>
              <a:rPr lang="en-US" sz="1200" dirty="0">
                <a:ea typeface="Wingdings"/>
                <a:cs typeface="Wingdings"/>
                <a:sym typeface="Wingdings"/>
              </a:rPr>
              <a:t> Fortran routines to process GPCP global data to scale driver data precipitation.</a:t>
            </a:r>
          </a:p>
          <a:p>
            <a:endParaRPr lang="en-US" sz="1200" dirty="0">
              <a:ea typeface="Wingdings"/>
              <a:cs typeface="Wingdings"/>
              <a:sym typeface="Wingding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ea typeface="Wingdings"/>
                <a:cs typeface="Wingdings"/>
                <a:sym typeface="Wingdings"/>
              </a:rPr>
              <a:t>  </a:t>
            </a:r>
            <a:r>
              <a:rPr lang="en-US" sz="1200" b="1" dirty="0" err="1">
                <a:ea typeface="Wingdings"/>
                <a:cs typeface="Wingdings"/>
                <a:sym typeface="Wingdings"/>
              </a:rPr>
              <a:t>Tools_MERRA</a:t>
            </a:r>
            <a:r>
              <a:rPr lang="en-US" sz="1200" b="1" dirty="0">
                <a:ea typeface="Wingdings"/>
                <a:cs typeface="Wingdings"/>
                <a:sym typeface="Wingdings"/>
              </a:rPr>
              <a:t>:</a:t>
            </a:r>
            <a:r>
              <a:rPr lang="en-US" sz="1200" dirty="0">
                <a:ea typeface="Wingdings"/>
                <a:cs typeface="Wingdings"/>
                <a:sym typeface="Wingdings"/>
              </a:rPr>
              <a:t> Fortran routines and scripts to obtain and process MERRA2 data for driver data</a:t>
            </a:r>
          </a:p>
          <a:p>
            <a:endParaRPr lang="en-US" sz="1200" dirty="0">
              <a:ea typeface="Wingdings"/>
              <a:cs typeface="Wingdings"/>
              <a:sym typeface="Wingding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ea typeface="Wingdings"/>
                <a:cs typeface="Wingdings"/>
                <a:sym typeface="Wingdings"/>
              </a:rPr>
              <a:t>  </a:t>
            </a:r>
            <a:r>
              <a:rPr lang="en-US" sz="1200" b="1" dirty="0" err="1">
                <a:ea typeface="Wingdings"/>
                <a:cs typeface="Wingdings"/>
                <a:sym typeface="Wingdings"/>
              </a:rPr>
              <a:t>Tools_Misc</a:t>
            </a:r>
            <a:r>
              <a:rPr lang="en-US" sz="1200" b="1" dirty="0">
                <a:ea typeface="Wingdings"/>
                <a:cs typeface="Wingdings"/>
                <a:sym typeface="Wingdings"/>
              </a:rPr>
              <a:t>: </a:t>
            </a:r>
            <a:r>
              <a:rPr lang="en-US" sz="1200" dirty="0">
                <a:ea typeface="Wingdings"/>
                <a:cs typeface="Wingdings"/>
                <a:sym typeface="Wingdings"/>
              </a:rPr>
              <a:t>Miscellaneous IDL routines </a:t>
            </a:r>
          </a:p>
          <a:p>
            <a:r>
              <a:rPr lang="en-US" sz="1200" dirty="0">
                <a:ea typeface="Wingdings"/>
                <a:cs typeface="Wingdings"/>
                <a:sym typeface="Wingdings"/>
              </a:rPr>
              <a:t>    -&gt; Plot site locations</a:t>
            </a:r>
          </a:p>
          <a:p>
            <a:r>
              <a:rPr lang="en-US" sz="1200" dirty="0">
                <a:ea typeface="Wingdings"/>
                <a:cs typeface="Wingdings"/>
                <a:sym typeface="Wingdings"/>
              </a:rPr>
              <a:t>    -&gt; Map PFT fractions</a:t>
            </a:r>
          </a:p>
          <a:p>
            <a:r>
              <a:rPr lang="en-US" sz="1200" dirty="0">
                <a:ea typeface="Wingdings"/>
                <a:cs typeface="Wingdings"/>
                <a:sym typeface="Wingdings"/>
              </a:rPr>
              <a:t>    -&gt; Plot potential/stress factors</a:t>
            </a:r>
          </a:p>
          <a:p>
            <a:endParaRPr lang="en-US" dirty="0">
              <a:ea typeface="Wingdings"/>
              <a:cs typeface="Wingdings"/>
              <a:sym typeface="Wingding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6704B-100F-8245-99FC-7A8349FC9C73}"/>
              </a:ext>
            </a:extLst>
          </p:cNvPr>
          <p:cNvSpPr txBox="1"/>
          <p:nvPr/>
        </p:nvSpPr>
        <p:spPr>
          <a:xfrm>
            <a:off x="2821916" y="1761745"/>
            <a:ext cx="30839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charset="0"/>
              <a:buChar char=""/>
            </a:pPr>
            <a:r>
              <a:rPr lang="en-US" sz="1200" dirty="0">
                <a:ea typeface="Wingdings"/>
                <a:cs typeface="Wingdings"/>
                <a:sym typeface="Wingdings"/>
              </a:rPr>
              <a:t>  </a:t>
            </a:r>
            <a:r>
              <a:rPr lang="en-US" sz="1200" b="1" dirty="0" err="1">
                <a:ea typeface="Wingdings"/>
                <a:cs typeface="Wingdings"/>
                <a:sym typeface="Wingdings"/>
              </a:rPr>
              <a:t>Tools_Post</a:t>
            </a:r>
            <a:r>
              <a:rPr lang="en-US" sz="1200" b="1" dirty="0">
                <a:ea typeface="Wingdings"/>
                <a:cs typeface="Wingdings"/>
                <a:sym typeface="Wingdings"/>
              </a:rPr>
              <a:t>:  </a:t>
            </a:r>
            <a:r>
              <a:rPr lang="en-US" sz="1200" dirty="0">
                <a:ea typeface="Wingdings"/>
                <a:cs typeface="Wingdings"/>
                <a:sym typeface="Wingdings"/>
              </a:rPr>
              <a:t>Fortran post-processing tools</a:t>
            </a:r>
          </a:p>
          <a:p>
            <a:r>
              <a:rPr lang="en-US" sz="1200" dirty="0">
                <a:ea typeface="Wingdings"/>
                <a:cs typeface="Wingdings"/>
                <a:sym typeface="Wingdings"/>
              </a:rPr>
              <a:t>      -&gt; Add balanced respiration to output</a:t>
            </a:r>
          </a:p>
          <a:p>
            <a:r>
              <a:rPr lang="en-US" sz="1200" dirty="0">
                <a:ea typeface="Wingdings"/>
                <a:cs typeface="Wingdings"/>
                <a:sym typeface="Wingdings"/>
              </a:rPr>
              <a:t>      -&gt; Balance respiration</a:t>
            </a:r>
          </a:p>
          <a:p>
            <a:r>
              <a:rPr lang="en-US" sz="1200" dirty="0">
                <a:ea typeface="Wingdings"/>
                <a:cs typeface="Wingdings"/>
                <a:sym typeface="Wingdings"/>
              </a:rPr>
              <a:t>      -&gt; Check the carbon balance</a:t>
            </a:r>
          </a:p>
          <a:p>
            <a:r>
              <a:rPr lang="en-US" sz="1200" dirty="0">
                <a:ea typeface="Wingdings"/>
                <a:cs typeface="Wingdings"/>
                <a:sym typeface="Wingdings"/>
              </a:rPr>
              <a:t>      -&gt; Combine output (from PFT to </a:t>
            </a:r>
            <a:r>
              <a:rPr lang="en-US" sz="1200" dirty="0" err="1">
                <a:ea typeface="Wingdings"/>
                <a:cs typeface="Wingdings"/>
                <a:sym typeface="Wingdings"/>
              </a:rPr>
              <a:t>gridcell</a:t>
            </a:r>
            <a:r>
              <a:rPr lang="en-US" sz="1200" dirty="0">
                <a:ea typeface="Wingdings"/>
                <a:cs typeface="Wingdings"/>
                <a:sym typeface="Wingdings"/>
              </a:rPr>
              <a:t>)</a:t>
            </a:r>
          </a:p>
          <a:p>
            <a:r>
              <a:rPr lang="en-US" sz="1200" dirty="0">
                <a:ea typeface="Wingdings"/>
                <a:cs typeface="Wingdings"/>
                <a:sym typeface="Wingdings"/>
              </a:rPr>
              <a:t>      </a:t>
            </a:r>
            <a:r>
              <a:rPr lang="en-US" sz="1200" dirty="0">
                <a:ea typeface="Wingdings"/>
                <a:cs typeface="Wingdings"/>
                <a:sym typeface="Wingdings" pitchFamily="2" charset="2"/>
              </a:rPr>
              <a:t>-&gt; Conjoin output (combine time)</a:t>
            </a:r>
          </a:p>
          <a:p>
            <a:r>
              <a:rPr lang="en-US" sz="1200" dirty="0">
                <a:ea typeface="Wingdings"/>
                <a:cs typeface="Wingdings"/>
                <a:sym typeface="Wingdings" pitchFamily="2" charset="2"/>
              </a:rPr>
              <a:t>      -&gt; Copy output</a:t>
            </a:r>
          </a:p>
          <a:p>
            <a:r>
              <a:rPr lang="en-US" sz="1200" dirty="0">
                <a:ea typeface="Wingdings"/>
                <a:cs typeface="Wingdings"/>
                <a:sym typeface="Wingdings" pitchFamily="2" charset="2"/>
              </a:rPr>
              <a:t>      -&gt; Distribute crop carbon globally</a:t>
            </a:r>
          </a:p>
          <a:p>
            <a:r>
              <a:rPr lang="en-US" sz="1200" dirty="0">
                <a:ea typeface="Wingdings"/>
                <a:cs typeface="Wingdings"/>
                <a:sym typeface="Wingdings" pitchFamily="2" charset="2"/>
              </a:rPr>
              <a:t>      -&gt; Disjoin output (break apart time)</a:t>
            </a:r>
          </a:p>
          <a:p>
            <a:r>
              <a:rPr lang="en-US" sz="1200" dirty="0">
                <a:ea typeface="Wingdings"/>
                <a:cs typeface="Wingdings"/>
                <a:sym typeface="Wingdings" pitchFamily="2" charset="2"/>
              </a:rPr>
              <a:t>      -&gt; Calculate GPP totals</a:t>
            </a:r>
          </a:p>
          <a:p>
            <a:r>
              <a:rPr lang="en-US" sz="1200" dirty="0">
                <a:ea typeface="Wingdings"/>
                <a:cs typeface="Wingdings"/>
                <a:sym typeface="Wingdings" pitchFamily="2" charset="2"/>
              </a:rPr>
              <a:t>      -&gt; Grid files</a:t>
            </a:r>
          </a:p>
          <a:p>
            <a:r>
              <a:rPr lang="en-US" sz="1200" dirty="0">
                <a:ea typeface="Wingdings"/>
                <a:cs typeface="Wingdings"/>
                <a:sym typeface="Wingdings" pitchFamily="2" charset="2"/>
              </a:rPr>
              <a:t>      -&gt; Create climatological mean output</a:t>
            </a:r>
          </a:p>
          <a:p>
            <a:r>
              <a:rPr lang="en-US" sz="1200" dirty="0">
                <a:ea typeface="Wingdings"/>
                <a:cs typeface="Wingdings"/>
                <a:sym typeface="Wingdings" pitchFamily="2" charset="2"/>
              </a:rPr>
              <a:t>      </a:t>
            </a:r>
            <a:r>
              <a:rPr lang="en-US" sz="1200" dirty="0">
                <a:ea typeface="Wingdings"/>
                <a:cs typeface="Wingdings"/>
                <a:sym typeface="Wingdings"/>
              </a:rPr>
              <a:t>-&gt; Merge output from different processors</a:t>
            </a:r>
          </a:p>
          <a:p>
            <a:r>
              <a:rPr lang="en-US" sz="1200" dirty="0">
                <a:ea typeface="Wingdings"/>
                <a:cs typeface="Wingdings"/>
                <a:sym typeface="Wingdings"/>
              </a:rPr>
              <a:t>      -&gt; Pull specific variables</a:t>
            </a:r>
          </a:p>
          <a:p>
            <a:r>
              <a:rPr lang="en-US" sz="1200" dirty="0">
                <a:ea typeface="Wingdings"/>
                <a:cs typeface="Wingdings"/>
                <a:sym typeface="Wingdings"/>
              </a:rPr>
              <a:t>      -&gt; </a:t>
            </a:r>
            <a:r>
              <a:rPr lang="en-US" sz="1200" dirty="0" err="1">
                <a:ea typeface="Wingdings"/>
                <a:cs typeface="Wingdings"/>
                <a:sym typeface="Wingdings"/>
              </a:rPr>
              <a:t>Regrid</a:t>
            </a:r>
            <a:r>
              <a:rPr lang="en-US" sz="1200" dirty="0">
                <a:ea typeface="Wingdings"/>
                <a:cs typeface="Wingdings"/>
                <a:sym typeface="Wingdings"/>
              </a:rPr>
              <a:t> files</a:t>
            </a:r>
          </a:p>
          <a:p>
            <a:r>
              <a:rPr lang="en-US" sz="1200" dirty="0">
                <a:ea typeface="Wingdings"/>
                <a:cs typeface="Wingdings"/>
                <a:sym typeface="Wingdings"/>
              </a:rPr>
              <a:t>      -&gt; Rename variables</a:t>
            </a:r>
          </a:p>
          <a:p>
            <a:r>
              <a:rPr lang="en-US" sz="1200" dirty="0">
                <a:ea typeface="Wingdings"/>
                <a:cs typeface="Wingdings"/>
                <a:sym typeface="Wingdings"/>
              </a:rPr>
              <a:t>      -&gt; Replace respiration</a:t>
            </a:r>
          </a:p>
          <a:p>
            <a:r>
              <a:rPr lang="en-US" sz="1200" dirty="0">
                <a:ea typeface="Wingdings"/>
                <a:cs typeface="Wingdings"/>
                <a:sym typeface="Wingdings"/>
              </a:rPr>
              <a:t>      -&gt; Unstack PFTs</a:t>
            </a:r>
          </a:p>
          <a:p>
            <a:endParaRPr lang="en-US" sz="1200" dirty="0">
              <a:ea typeface="Wingdings"/>
              <a:cs typeface="Wingdings"/>
              <a:sym typeface="Wingdings"/>
            </a:endParaRPr>
          </a:p>
          <a:p>
            <a:r>
              <a:rPr lang="en-US" sz="1200" dirty="0">
                <a:ea typeface="Wingdings"/>
                <a:cs typeface="Wingdings"/>
                <a:sym typeface="Wingdings"/>
              </a:rPr>
              <a:t>      -&gt; sib4post.pl is a </a:t>
            </a:r>
            <a:r>
              <a:rPr lang="en-US" sz="1200" dirty="0" err="1">
                <a:ea typeface="Wingdings"/>
                <a:cs typeface="Wingdings"/>
                <a:sym typeface="Wingdings"/>
              </a:rPr>
              <a:t>perl</a:t>
            </a:r>
            <a:r>
              <a:rPr lang="en-US" sz="1200" dirty="0">
                <a:ea typeface="Wingdings"/>
                <a:cs typeface="Wingdings"/>
                <a:sym typeface="Wingdings"/>
              </a:rPr>
              <a:t> script allowing the post processing of numerous years at once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459B69-7FB2-AC40-AC37-84147F9048B5}"/>
              </a:ext>
            </a:extLst>
          </p:cNvPr>
          <p:cNvCxnSpPr/>
          <p:nvPr/>
        </p:nvCxnSpPr>
        <p:spPr>
          <a:xfrm>
            <a:off x="2821916" y="980240"/>
            <a:ext cx="0" cy="52937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190CF7B-57A2-9449-BC1A-23CD762FC18D}"/>
              </a:ext>
            </a:extLst>
          </p:cNvPr>
          <p:cNvSpPr txBox="1"/>
          <p:nvPr/>
        </p:nvSpPr>
        <p:spPr>
          <a:xfrm>
            <a:off x="6049791" y="2084910"/>
            <a:ext cx="30126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charset="0"/>
              <a:buChar char=""/>
            </a:pPr>
            <a:r>
              <a:rPr lang="en-US" sz="1200" dirty="0">
                <a:ea typeface="Wingdings"/>
                <a:cs typeface="Wingdings"/>
                <a:sym typeface="Wingdings"/>
              </a:rPr>
              <a:t> </a:t>
            </a:r>
            <a:r>
              <a:rPr lang="en-US" sz="1200" b="1" dirty="0" err="1">
                <a:ea typeface="Wingdings"/>
                <a:cs typeface="Wingdings"/>
                <a:sym typeface="Wingdings"/>
              </a:rPr>
              <a:t>Tools_Pre</a:t>
            </a:r>
            <a:r>
              <a:rPr lang="en-US" sz="1200" b="1" dirty="0">
                <a:ea typeface="Wingdings"/>
                <a:cs typeface="Wingdings"/>
                <a:sym typeface="Wingdings"/>
              </a:rPr>
              <a:t>:</a:t>
            </a:r>
            <a:r>
              <a:rPr lang="en-US" sz="1200" dirty="0"/>
              <a:t>  Fortran routines to prepare files</a:t>
            </a:r>
          </a:p>
          <a:p>
            <a:r>
              <a:rPr lang="en-US" sz="1200" dirty="0"/>
              <a:t>    -&gt; Create aerodynamic parameter file</a:t>
            </a:r>
          </a:p>
          <a:p>
            <a:r>
              <a:rPr lang="en-US" sz="1200" dirty="0"/>
              <a:t>    -&gt; Create SiB4 PFT file</a:t>
            </a:r>
          </a:p>
          <a:p>
            <a:r>
              <a:rPr lang="en-US" sz="1200" dirty="0"/>
              <a:t>    -&gt; Create driver data files from global data </a:t>
            </a:r>
          </a:p>
          <a:p>
            <a:r>
              <a:rPr lang="en-US" sz="1200" dirty="0"/>
              <a:t>    -&gt; Combine driver data files from site data</a:t>
            </a:r>
          </a:p>
          <a:p>
            <a:r>
              <a:rPr lang="en-US" sz="1200" dirty="0"/>
              <a:t>    -&gt; Create SiB4 vegetation file</a:t>
            </a:r>
          </a:p>
          <a:p>
            <a:r>
              <a:rPr lang="en-US" sz="1200" dirty="0"/>
              <a:t>    -&gt; Re-grid high-resolution PFT data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BA11981-CB69-C047-8248-15B042E972B1}"/>
              </a:ext>
            </a:extLst>
          </p:cNvPr>
          <p:cNvCxnSpPr/>
          <p:nvPr/>
        </p:nvCxnSpPr>
        <p:spPr>
          <a:xfrm>
            <a:off x="5963959" y="980239"/>
            <a:ext cx="0" cy="52937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015D946-7A5F-3F40-A928-F4AA8A0015C5}"/>
              </a:ext>
            </a:extLst>
          </p:cNvPr>
          <p:cNvSpPr txBox="1"/>
          <p:nvPr/>
        </p:nvSpPr>
        <p:spPr>
          <a:xfrm>
            <a:off x="5977221" y="3694705"/>
            <a:ext cx="3301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charset="0"/>
              <a:buChar char=""/>
            </a:pPr>
            <a:r>
              <a:rPr lang="en-US" sz="1200" dirty="0">
                <a:ea typeface="Wingdings"/>
                <a:cs typeface="Wingdings"/>
                <a:sym typeface="Wingdings"/>
              </a:rPr>
              <a:t> </a:t>
            </a:r>
            <a:r>
              <a:rPr lang="en-US" sz="1200" b="1" dirty="0" err="1">
                <a:ea typeface="Wingdings"/>
                <a:cs typeface="Wingdings"/>
                <a:sym typeface="Wingdings"/>
              </a:rPr>
              <a:t>Tools_Sinks</a:t>
            </a:r>
            <a:r>
              <a:rPr lang="en-US" sz="1200" b="1" dirty="0">
                <a:ea typeface="Wingdings"/>
                <a:cs typeface="Wingdings"/>
                <a:sym typeface="Wingdings"/>
              </a:rPr>
              <a:t>:</a:t>
            </a:r>
            <a:r>
              <a:rPr lang="en-US" sz="1200" dirty="0"/>
              <a:t>  R routines to obtain GPP and Respiration scalars (betas) to create a specified annual global sink</a:t>
            </a:r>
          </a:p>
        </p:txBody>
      </p:sp>
    </p:spTree>
    <p:extLst>
      <p:ext uri="{BB962C8B-B14F-4D97-AF65-F5344CB8AC3E}">
        <p14:creationId xmlns:p14="http://schemas.microsoft.com/office/powerpoint/2010/main" val="583144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43082" y="112774"/>
            <a:ext cx="243859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SiB4 Code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2850" y="810054"/>
            <a:ext cx="762510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 Compiling/Linking Script: </a:t>
            </a:r>
            <a:r>
              <a:rPr lang="en-US" sz="2000" dirty="0" err="1"/>
              <a:t>Makefile</a:t>
            </a:r>
            <a:endParaRPr lang="en-US" sz="2000" dirty="0"/>
          </a:p>
          <a:p>
            <a:r>
              <a:rPr lang="en-US" sz="2000" dirty="0"/>
              <a:t>- Main Program: SiBDRV.F90</a:t>
            </a:r>
          </a:p>
          <a:p>
            <a:r>
              <a:rPr lang="en-US" sz="2000" dirty="0"/>
              <a:t>- Main Land-Atmosphere Control Subroutines: </a:t>
            </a:r>
          </a:p>
          <a:p>
            <a:r>
              <a:rPr lang="en-US" sz="2000" dirty="0"/>
              <a:t>      -&gt; sibcontrol.F90: Controls order of phenology and pool calculations</a:t>
            </a:r>
          </a:p>
          <a:p>
            <a:r>
              <a:rPr lang="en-US" sz="2000" dirty="0"/>
              <a:t>      -&gt; sibmain.F90: </a:t>
            </a:r>
            <a:r>
              <a:rPr lang="en-US" sz="2000" dirty="0">
                <a:ea typeface="Wingdings"/>
                <a:cs typeface="Wingdings"/>
                <a:sym typeface="Wingdings"/>
              </a:rPr>
              <a:t>Controls the order of flux and hydrology calculations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12266" y="3263900"/>
            <a:ext cx="6719468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Variable Modules</a:t>
            </a:r>
            <a:endParaRPr lang="en-US" sz="2000" dirty="0">
              <a:ea typeface="Wingdings"/>
              <a:cs typeface="Wingdings"/>
              <a:sym typeface="Wingdings"/>
            </a:endParaRP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Module_IO</a:t>
            </a:r>
            <a:r>
              <a:rPr lang="en-US" sz="1600" dirty="0">
                <a:ea typeface="Wingdings"/>
                <a:cs typeface="Wingdings"/>
                <a:sym typeface="Wingdings"/>
              </a:rPr>
              <a:t>: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Input/Output</a:t>
            </a:r>
            <a:r>
              <a:rPr lang="en-US" sz="1600" dirty="0">
                <a:ea typeface="Wingdings"/>
                <a:cs typeface="Wingdings"/>
                <a:sym typeface="Wingdings"/>
              </a:rPr>
              <a:t> Variables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Module_Local</a:t>
            </a:r>
            <a:r>
              <a:rPr lang="en-US" sz="1600" dirty="0">
                <a:ea typeface="Wingdings"/>
                <a:cs typeface="Wingdings"/>
                <a:sym typeface="Wingdings"/>
              </a:rPr>
              <a:t>: Local Energy/Water Balance Organized Into Type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Module_Oparams</a:t>
            </a:r>
            <a:r>
              <a:rPr lang="en-US" sz="1600" dirty="0">
                <a:ea typeface="Wingdings"/>
                <a:cs typeface="Wingdings"/>
                <a:sym typeface="Wingdings"/>
              </a:rPr>
              <a:t>: Non-PFT specific Parameters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Module_Param</a:t>
            </a:r>
            <a:r>
              <a:rPr lang="en-US" sz="1600" dirty="0">
                <a:ea typeface="Wingdings"/>
                <a:cs typeface="Wingdings"/>
                <a:sym typeface="Wingdings"/>
              </a:rPr>
              <a:t>: Aerodynamic/Phenological/Physiological/Pool Parameters 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Module_PFTInfo</a:t>
            </a:r>
            <a:r>
              <a:rPr lang="en-US" sz="1600" dirty="0">
                <a:ea typeface="Wingdings"/>
                <a:cs typeface="Wingdings"/>
                <a:sym typeface="Wingdings"/>
              </a:rPr>
              <a:t>: Plant Functional Type (PFT) Information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Module_Phosib</a:t>
            </a:r>
            <a:r>
              <a:rPr lang="en-US" sz="1600" dirty="0">
                <a:ea typeface="Wingdings"/>
                <a:cs typeface="Wingdings"/>
                <a:sym typeface="Wingdings"/>
              </a:rPr>
              <a:t>: Module for time-step only photosynthesis variables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Module_PoolInfo</a:t>
            </a:r>
            <a:r>
              <a:rPr lang="en-US" sz="1600" dirty="0">
                <a:ea typeface="Wingdings"/>
                <a:cs typeface="Wingdings"/>
                <a:sym typeface="Wingdings"/>
              </a:rPr>
              <a:t>: Pool Information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Module_PParams</a:t>
            </a:r>
            <a:r>
              <a:rPr lang="en-US" sz="1600" dirty="0">
                <a:ea typeface="Wingdings"/>
                <a:cs typeface="Wingdings"/>
                <a:sym typeface="Wingdings"/>
              </a:rPr>
              <a:t>: Physical Parameters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Module_SiB</a:t>
            </a:r>
            <a:r>
              <a:rPr lang="en-US" sz="1600" dirty="0">
                <a:ea typeface="Wingdings"/>
                <a:cs typeface="Wingdings"/>
                <a:sym typeface="Wingdings"/>
              </a:rPr>
              <a:t>: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SiB</a:t>
            </a:r>
            <a:r>
              <a:rPr lang="en-US" sz="1600" dirty="0">
                <a:ea typeface="Wingdings"/>
                <a:cs typeface="Wingdings"/>
                <a:sym typeface="Wingdings"/>
              </a:rPr>
              <a:t> Variables (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Gridcell</a:t>
            </a:r>
            <a:r>
              <a:rPr lang="en-US" sz="1600" dirty="0">
                <a:ea typeface="Wingdings"/>
                <a:cs typeface="Wingdings"/>
                <a:sym typeface="Wingdings"/>
              </a:rPr>
              <a:t> and Land Unit containing one PFT)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Module_SiBConst</a:t>
            </a:r>
            <a:r>
              <a:rPr lang="en-US" sz="1600" dirty="0">
                <a:ea typeface="Wingdings"/>
                <a:cs typeface="Wingdings"/>
                <a:sym typeface="Wingdings"/>
              </a:rPr>
              <a:t>: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SiB</a:t>
            </a:r>
            <a:r>
              <a:rPr lang="en-US" sz="1600" dirty="0">
                <a:ea typeface="Wingdings"/>
                <a:cs typeface="Wingdings"/>
                <a:sym typeface="Wingdings"/>
              </a:rPr>
              <a:t> Constants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Module_SiBVS</a:t>
            </a:r>
            <a:r>
              <a:rPr lang="en-US" sz="1600" dirty="0">
                <a:ea typeface="Wingdings"/>
                <a:cs typeface="Wingdings"/>
                <a:sym typeface="Wingdings"/>
              </a:rPr>
              <a:t>: Vegetation Structure Variables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Module_Time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Time Variables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99C604-86C8-3945-A8CA-2FD9C765C370}"/>
              </a:ext>
            </a:extLst>
          </p:cNvPr>
          <p:cNvCxnSpPr>
            <a:cxnSpLocks/>
          </p:cNvCxnSpPr>
          <p:nvPr/>
        </p:nvCxnSpPr>
        <p:spPr>
          <a:xfrm flipH="1">
            <a:off x="852850" y="2794000"/>
            <a:ext cx="70190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603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1652" y="192208"/>
            <a:ext cx="62726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SiB4 Code: Scientific Routines 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4205" y="2264587"/>
            <a:ext cx="847559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0"/>
              <a:buChar char=""/>
            </a:pPr>
            <a:r>
              <a:rPr lang="en-US" sz="2000" dirty="0">
                <a:ea typeface="Wingdings"/>
                <a:cs typeface="Wingdings"/>
                <a:sym typeface="Wingdings"/>
              </a:rPr>
              <a:t>Fluxes</a:t>
            </a:r>
          </a:p>
          <a:p>
            <a:r>
              <a:rPr lang="en-US" sz="2000" dirty="0">
                <a:ea typeface="Wingdings"/>
                <a:cs typeface="Wingdings"/>
                <a:sym typeface="Wingdings"/>
              </a:rPr>
              <a:t> </a:t>
            </a:r>
            <a:r>
              <a:rPr lang="en-US" sz="1600" dirty="0">
                <a:ea typeface="Wingdings"/>
                <a:cs typeface="Wingdings"/>
                <a:sym typeface="Wingdings"/>
              </a:rPr>
              <a:t>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AddInc</a:t>
            </a:r>
            <a:r>
              <a:rPr lang="en-US" sz="1600" dirty="0">
                <a:ea typeface="Wingdings"/>
                <a:cs typeface="Wingdings"/>
                <a:sym typeface="Wingdings"/>
              </a:rPr>
              <a:t>: Add increments to prognostic variables and diagnose heat fluxes and mixing ratios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CAS_Update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Updates canopy air space variables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Delef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partial derivatives of canopy and ground latent heat fluxes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Delhf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partial derivatives of canopy and ground sensible heat fluxes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Dellwf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partial derivatives of canopy and ground radiative heat fluxes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Flux_rbrd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leaf surface-canopy air space (CAS) and ground-CAS resistances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Flux_update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Updates fluxes and hydrological prognostic variables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Flux_vmf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ustar</a:t>
            </a:r>
            <a:r>
              <a:rPr lang="en-US" sz="1600" dirty="0">
                <a:ea typeface="Wingdings"/>
                <a:cs typeface="Wingdings"/>
                <a:sym typeface="Wingdings"/>
              </a:rPr>
              <a:t> and transfer coefficients for momentum/heat fluxes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Flux_vrbrd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ventilation mass flux and resistances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Local_set</a:t>
            </a:r>
            <a:r>
              <a:rPr lang="en-US" sz="1600" dirty="0">
                <a:ea typeface="Wingdings"/>
                <a:cs typeface="Wingdings"/>
                <a:sym typeface="Wingdings"/>
              </a:rPr>
              <a:t>: Set local variables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Phocycalc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stomatal conductance, assimilation and canopy conductance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Phonveg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 canopy conductance for non-vegetation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Phosort</a:t>
            </a:r>
            <a:r>
              <a:rPr lang="en-US" sz="1600" dirty="0">
                <a:ea typeface="Wingdings"/>
                <a:cs typeface="Wingdings"/>
                <a:sym typeface="Wingdings"/>
              </a:rPr>
              <a:t>: Sort photosynthesis variables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Phostress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 potential/stress variables for photosynthesis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SiBSlv</a:t>
            </a:r>
            <a:r>
              <a:rPr lang="en-US" sz="1600" dirty="0">
                <a:ea typeface="Wingdings"/>
                <a:cs typeface="Wingdings"/>
                <a:sym typeface="Wingdings"/>
              </a:rPr>
              <a:t>: Sets up coupled system of partial differential equations for prognostic variable updating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5D73A-B6A5-014A-A78B-E078F1BFB536}"/>
              </a:ext>
            </a:extLst>
          </p:cNvPr>
          <p:cNvSpPr txBox="1"/>
          <p:nvPr/>
        </p:nvSpPr>
        <p:spPr>
          <a:xfrm>
            <a:off x="334205" y="954118"/>
            <a:ext cx="603511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0"/>
              <a:buChar char=""/>
            </a:pPr>
            <a:r>
              <a:rPr lang="en-US" sz="2000" dirty="0">
                <a:ea typeface="Wingdings"/>
                <a:cs typeface="Wingdings"/>
                <a:sym typeface="Wingdings"/>
              </a:rPr>
              <a:t>Balance Checks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Balan_carbon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Check carbon balance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Balan_eh2o: Check maintenance of water and energy balances</a:t>
            </a:r>
          </a:p>
        </p:txBody>
      </p:sp>
    </p:spTree>
    <p:extLst>
      <p:ext uri="{BB962C8B-B14F-4D97-AF65-F5344CB8AC3E}">
        <p14:creationId xmlns:p14="http://schemas.microsoft.com/office/powerpoint/2010/main" val="293035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59070" y="433854"/>
            <a:ext cx="43152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Helvetica"/>
                <a:cs typeface="Helvetica"/>
              </a:rPr>
              <a:t>SiB4 Code: </a:t>
            </a:r>
          </a:p>
          <a:p>
            <a:pPr algn="ctr"/>
            <a:r>
              <a:rPr lang="en-US" sz="3200" b="1" dirty="0">
                <a:latin typeface="Helvetica"/>
                <a:cs typeface="Helvetica"/>
              </a:rPr>
              <a:t>Scientific Routines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4492" y="1882734"/>
            <a:ext cx="851470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0"/>
              <a:buChar char=""/>
            </a:pPr>
            <a:r>
              <a:rPr lang="en-US" sz="2000" dirty="0">
                <a:ea typeface="Wingdings"/>
                <a:cs typeface="Wingdings"/>
                <a:sym typeface="Wingdings"/>
              </a:rPr>
              <a:t>Hydrology (Soil/Snow)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Dtess_Eau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Computes the values and derivatives of saturation, mixing ratio, and vapor pressure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Hydro_Canopy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the interception and drainage of rainfall and snow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Hydro_Nveg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 hydrology for non-vegetation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Hydro_SetS</a:t>
            </a:r>
            <a:r>
              <a:rPr lang="en-US" sz="1600" dirty="0">
                <a:ea typeface="Wingdings"/>
                <a:cs typeface="Wingdings"/>
                <a:sym typeface="Wingdings"/>
              </a:rPr>
              <a:t>: Update soil hydrology diagnostics from soil moisture at beginning of time-step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Hydro_SetV</a:t>
            </a:r>
            <a:r>
              <a:rPr lang="en-US" sz="1600" dirty="0">
                <a:ea typeface="Wingdings"/>
                <a:cs typeface="Wingdings"/>
                <a:sym typeface="Wingdings"/>
              </a:rPr>
              <a:t>: Update vegetation hydrology diagnostics at beginning of time-step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Hydro_Snow</a:t>
            </a:r>
            <a:r>
              <a:rPr lang="en-US" sz="1600" dirty="0">
                <a:ea typeface="Wingdings"/>
                <a:cs typeface="Wingdings"/>
                <a:sym typeface="Wingdings"/>
              </a:rPr>
              <a:t>: Evaluates and updates snow mass and snow water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Hydro_Soil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water processes in soil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Snow_Combine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Combines snow layers if necessary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Snow_Compact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the metamorphisms of changing snow characteristics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Snow_Subdivide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Subdivides snow layers if they exceed their prescribed maximum thickness</a:t>
            </a:r>
          </a:p>
        </p:txBody>
      </p:sp>
    </p:spTree>
    <p:extLst>
      <p:ext uri="{BB962C8B-B14F-4D97-AF65-F5344CB8AC3E}">
        <p14:creationId xmlns:p14="http://schemas.microsoft.com/office/powerpoint/2010/main" val="1856189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1742" y="203832"/>
            <a:ext cx="67843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Helvetica"/>
                <a:cs typeface="Helvetica"/>
              </a:rPr>
              <a:t>SiB4 Code: </a:t>
            </a:r>
          </a:p>
          <a:p>
            <a:pPr algn="ctr"/>
            <a:r>
              <a:rPr lang="en-US" sz="3200" b="1" dirty="0">
                <a:latin typeface="Helvetica"/>
                <a:cs typeface="Helvetica"/>
              </a:rPr>
              <a:t>Scientific Routines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9571" y="1228999"/>
            <a:ext cx="849386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0"/>
              <a:buChar char=""/>
            </a:pPr>
            <a:r>
              <a:rPr lang="en-US" sz="2000" dirty="0">
                <a:ea typeface="Wingdings"/>
                <a:cs typeface="Wingdings"/>
                <a:sym typeface="Wingdings"/>
              </a:rPr>
              <a:t>Phenology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Mapper: Calculates vegetation aerodynamic parameters and leaf projection relative to the sun 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Phen_defined</a:t>
            </a:r>
            <a:r>
              <a:rPr lang="en-US" sz="1600" dirty="0">
                <a:ea typeface="Wingdings"/>
                <a:cs typeface="Wingdings"/>
                <a:sym typeface="Wingdings"/>
              </a:rPr>
              <a:t>: Determine defined phenology stage (crops)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Phen_dynamic</a:t>
            </a:r>
            <a:r>
              <a:rPr lang="en-US" sz="1600" dirty="0">
                <a:ea typeface="Wingdings"/>
                <a:cs typeface="Wingdings"/>
                <a:sym typeface="Wingdings"/>
              </a:rPr>
              <a:t>: Determine dynamic phenology stage (non-crops)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Phen_gss</a:t>
            </a:r>
            <a:r>
              <a:rPr lang="en-US" sz="1600" dirty="0">
                <a:ea typeface="Wingdings"/>
                <a:cs typeface="Wingdings"/>
                <a:sym typeface="Wingdings"/>
              </a:rPr>
              <a:t>: Determine if conditions are appropriate for growing season start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Phen_update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Update phenology running-mean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0980D2-87EC-074D-B37E-62B4A7A02667}"/>
              </a:ext>
            </a:extLst>
          </p:cNvPr>
          <p:cNvSpPr txBox="1"/>
          <p:nvPr/>
        </p:nvSpPr>
        <p:spPr>
          <a:xfrm>
            <a:off x="119571" y="3169466"/>
            <a:ext cx="691080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0"/>
              <a:buChar char=""/>
            </a:pPr>
            <a:r>
              <a:rPr lang="en-US" sz="2000" dirty="0">
                <a:ea typeface="Wingdings"/>
                <a:cs typeface="Wingdings"/>
                <a:sym typeface="Wingdings"/>
              </a:rPr>
              <a:t>Pools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Pool_assim</a:t>
            </a:r>
            <a:r>
              <a:rPr lang="en-US" sz="1600" dirty="0">
                <a:ea typeface="Wingdings"/>
                <a:cs typeface="Wingdings"/>
                <a:sym typeface="Wingdings"/>
              </a:rPr>
              <a:t>: Update live carbon pools from photosynthetic gains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Pool_auto_resp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autotrophic respiration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Pool_auto_tran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transfer from the live pools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Pool_graze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 grazing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Pool_het_retr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heterotrophic respiration and dead pool transfer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Pool_update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Control routine to update the carbon pools (daily)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Veg_update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Updates vegetation information (e.g. LAI, FPAR, aerodynamics)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7B9CBA-9C06-3643-A069-433465BFB40F}"/>
              </a:ext>
            </a:extLst>
          </p:cNvPr>
          <p:cNvSpPr txBox="1"/>
          <p:nvPr/>
        </p:nvSpPr>
        <p:spPr>
          <a:xfrm>
            <a:off x="119571" y="5629001"/>
            <a:ext cx="5751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0"/>
              <a:buChar char=""/>
            </a:pPr>
            <a:r>
              <a:rPr lang="en-US" sz="2000" dirty="0">
                <a:ea typeface="Wingdings"/>
                <a:cs typeface="Wingdings"/>
                <a:sym typeface="Wingdings"/>
              </a:rPr>
              <a:t>Pool Equilibrium and Spin-Up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EquiPools_Calc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the quasi-equilibrium carbon pools</a:t>
            </a:r>
          </a:p>
        </p:txBody>
      </p:sp>
    </p:spTree>
    <p:extLst>
      <p:ext uri="{BB962C8B-B14F-4D97-AF65-F5344CB8AC3E}">
        <p14:creationId xmlns:p14="http://schemas.microsoft.com/office/powerpoint/2010/main" val="3398867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1652" y="192208"/>
            <a:ext cx="62726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SiB4 Code: Scientific Routines 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4632" y="1254368"/>
            <a:ext cx="764010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0"/>
              <a:buChar char=""/>
            </a:pPr>
            <a:r>
              <a:rPr lang="en-US" sz="2000" dirty="0">
                <a:ea typeface="Wingdings"/>
                <a:cs typeface="Wingdings"/>
                <a:sym typeface="Wingdings"/>
              </a:rPr>
              <a:t>Radiation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RadAbs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absorption of radiation by the surface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RadFac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albedos via two stream approximation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RadNet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net radiation from physics and current canopy and ground losses 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Zenith: Calculates solar zenith 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4632" y="3116747"/>
            <a:ext cx="652082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0"/>
              <a:buChar char=""/>
            </a:pPr>
            <a:r>
              <a:rPr lang="en-US" sz="2000" dirty="0">
                <a:ea typeface="Wingdings"/>
                <a:cs typeface="Wingdings"/>
                <a:sym typeface="Wingdings"/>
              </a:rPr>
              <a:t>Miscellaneous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COS_Calc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uptake of carbonyl sulfide (COS) by plants and soil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SIF_Calc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Calculates fluorescence (SIF)</a:t>
            </a:r>
          </a:p>
        </p:txBody>
      </p:sp>
    </p:spTree>
    <p:extLst>
      <p:ext uri="{BB962C8B-B14F-4D97-AF65-F5344CB8AC3E}">
        <p14:creationId xmlns:p14="http://schemas.microsoft.com/office/powerpoint/2010/main" val="4004500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11032" y="67298"/>
            <a:ext cx="6321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SiB4 Code: Driver and Fire Data</a:t>
            </a:r>
            <a:endParaRPr lang="en-US" sz="3200" dirty="0">
              <a:latin typeface="Helvetica"/>
              <a:cs typeface="Helvetic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528" y="845863"/>
            <a:ext cx="845936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0"/>
              <a:buChar char=""/>
            </a:pPr>
            <a:r>
              <a:rPr lang="en-US" sz="2000" dirty="0">
                <a:ea typeface="Wingdings"/>
                <a:cs typeface="Wingdings"/>
                <a:sym typeface="Wingdings"/>
              </a:rPr>
              <a:t>Driver Data (Forcing Surface Meteorological Data)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Driver_Init</a:t>
            </a:r>
            <a:r>
              <a:rPr lang="en-US" sz="1600" dirty="0">
                <a:ea typeface="Wingdings"/>
                <a:cs typeface="Wingdings"/>
                <a:sym typeface="Wingdings"/>
              </a:rPr>
              <a:t>: Sets the driver data time/update variables and reads the initialization information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Driver_Interp</a:t>
            </a:r>
            <a:r>
              <a:rPr lang="en-US" sz="1600" dirty="0">
                <a:ea typeface="Wingdings"/>
                <a:cs typeface="Wingdings"/>
                <a:sym typeface="Wingdings"/>
              </a:rPr>
              <a:t>: Interpolates the driver data between read times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Driver_Read_Global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Reads the driver data for non-point simulations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Driver_Read_Single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Reads the driver data for single site simulations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Driver_Update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Updates the time and control variables for the driver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F146C-F7D0-DB42-8BF7-734D1EE5B28B}"/>
              </a:ext>
            </a:extLst>
          </p:cNvPr>
          <p:cNvSpPr txBox="1"/>
          <p:nvPr/>
        </p:nvSpPr>
        <p:spPr>
          <a:xfrm>
            <a:off x="108528" y="3189920"/>
            <a:ext cx="7973850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0"/>
              <a:buChar char=""/>
            </a:pPr>
            <a:r>
              <a:rPr lang="en-US" sz="2000" dirty="0">
                <a:ea typeface="Wingdings"/>
                <a:cs typeface="Wingdings"/>
                <a:sym typeface="Wingdings"/>
              </a:rPr>
              <a:t>Fire Data (Carbon Fire Emission Data)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Fire_Init</a:t>
            </a:r>
            <a:r>
              <a:rPr lang="en-US" sz="1600" dirty="0">
                <a:ea typeface="Wingdings"/>
                <a:cs typeface="Wingdings"/>
                <a:sym typeface="Wingdings"/>
              </a:rPr>
              <a:t>: Sets the fire data time/update variables and reads the initialization information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Fire_Interp</a:t>
            </a:r>
            <a:r>
              <a:rPr lang="en-US" sz="1600" dirty="0">
                <a:ea typeface="Wingdings"/>
                <a:cs typeface="Wingdings"/>
                <a:sym typeface="Wingdings"/>
              </a:rPr>
              <a:t>: Interpolates the fire emissions between read times and 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    removes the burned carbon from the pools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Fire_Read_Global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Reads the fire emissions for non-point simulations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Fire_Read_Single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Reads the fire emissions for single site simulations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Fire_Update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Updates the time and control variables for the fire data</a:t>
            </a:r>
          </a:p>
        </p:txBody>
      </p:sp>
    </p:spTree>
    <p:extLst>
      <p:ext uri="{BB962C8B-B14F-4D97-AF65-F5344CB8AC3E}">
        <p14:creationId xmlns:p14="http://schemas.microsoft.com/office/powerpoint/2010/main" val="3694206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51261" y="67298"/>
            <a:ext cx="4841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SiB4 Code: Initialization</a:t>
            </a:r>
            <a:endParaRPr lang="en-US" sz="3200" dirty="0">
              <a:latin typeface="Helvetica"/>
              <a:cs typeface="Helvetic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0438" y="1001725"/>
            <a:ext cx="7663123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0"/>
              <a:buChar char=""/>
            </a:pPr>
            <a:r>
              <a:rPr lang="en-US" sz="2000" dirty="0">
                <a:ea typeface="Wingdings"/>
                <a:cs typeface="Wingdings"/>
                <a:sym typeface="Wingdings"/>
              </a:rPr>
              <a:t>Initialization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Grid_Init</a:t>
            </a:r>
            <a:r>
              <a:rPr lang="en-US" sz="1600" dirty="0">
                <a:ea typeface="Wingdings"/>
                <a:cs typeface="Wingdings"/>
                <a:sym typeface="Wingdings"/>
              </a:rPr>
              <a:t>: Sets up the grid for the simulation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SiBType_Init</a:t>
            </a:r>
            <a:r>
              <a:rPr lang="en-US" sz="1600" dirty="0">
                <a:ea typeface="Wingdings"/>
                <a:cs typeface="Wingdings"/>
                <a:sym typeface="Wingdings"/>
              </a:rPr>
              <a:t>: Initializes the variables in the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SiB</a:t>
            </a:r>
            <a:r>
              <a:rPr lang="en-US" sz="1600" dirty="0">
                <a:ea typeface="Wingdings"/>
                <a:cs typeface="Wingdings"/>
                <a:sym typeface="Wingdings"/>
              </a:rPr>
              <a:t> type (sets variables to zero)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SiBType_Setup</a:t>
            </a:r>
            <a:r>
              <a:rPr lang="en-US" sz="1600" dirty="0">
                <a:ea typeface="Wingdings"/>
                <a:cs typeface="Wingdings"/>
                <a:sym typeface="Wingdings"/>
              </a:rPr>
              <a:t>: Sets up the variables in the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SiB</a:t>
            </a:r>
            <a:r>
              <a:rPr lang="en-US" sz="1600" dirty="0">
                <a:ea typeface="Wingdings"/>
                <a:cs typeface="Wingdings"/>
                <a:sym typeface="Wingdings"/>
              </a:rPr>
              <a:t> type (sets variables to starting values)</a:t>
            </a:r>
          </a:p>
          <a:p>
            <a:endParaRPr lang="en-US" sz="1600" dirty="0">
              <a:ea typeface="Wingdings"/>
              <a:cs typeface="Wingdings"/>
              <a:sym typeface="Wingding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Wingdings"/>
                <a:cs typeface="Wingdings"/>
                <a:sym typeface="Wingdings"/>
              </a:rPr>
              <a:t>File Reading</a:t>
            </a:r>
            <a:endParaRPr lang="en-US" sz="1600" dirty="0">
              <a:ea typeface="Wingdings"/>
              <a:cs typeface="Wingdings"/>
              <a:sym typeface="Wingdings"/>
            </a:endParaRP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Read_Aero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Reads the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SiB</a:t>
            </a:r>
            <a:r>
              <a:rPr lang="en-US" sz="1600" dirty="0">
                <a:ea typeface="Wingdings"/>
                <a:cs typeface="Wingdings"/>
                <a:sym typeface="Wingdings"/>
              </a:rPr>
              <a:t> aerodynamic tables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Read_Namel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Reads in the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namelist</a:t>
            </a:r>
            <a:r>
              <a:rPr lang="en-US" sz="1600" dirty="0">
                <a:ea typeface="Wingdings"/>
                <a:cs typeface="Wingdings"/>
                <a:sym typeface="Wingdings"/>
              </a:rPr>
              <a:t> file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Read_OutOpts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Reads in the file controlling the variables to be output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Read_PFTInfo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Reads in the plant functional type (PFT) information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Read_PGDD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Reads the growing-degree-day phenology parameters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Read_Phys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Reads the physiological parameters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Read_Pool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Reads the pool parameters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Read_PoolInfo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Reads the pool information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Read_PStg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Reads the stage-based dynamic phenology parameters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Read_ROutOpts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Reads in restart variables output options and default values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Read_SiBVS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Reads the vegetation structure</a:t>
            </a:r>
          </a:p>
        </p:txBody>
      </p:sp>
    </p:spTree>
    <p:extLst>
      <p:ext uri="{BB962C8B-B14F-4D97-AF65-F5344CB8AC3E}">
        <p14:creationId xmlns:p14="http://schemas.microsoft.com/office/powerpoint/2010/main" val="2293918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3651" y="114907"/>
            <a:ext cx="776356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Helvetica"/>
                <a:cs typeface="Helvetica"/>
              </a:rPr>
              <a:t>SiB4 Code: Output and Time Routines</a:t>
            </a:r>
            <a:endParaRPr lang="en-US" sz="3200" dirty="0">
              <a:latin typeface="Helvetica"/>
              <a:cs typeface="Helvetic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0227" y="963707"/>
            <a:ext cx="8161786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0"/>
              <a:buChar char=""/>
            </a:pPr>
            <a:r>
              <a:rPr lang="en-US" sz="2000" dirty="0">
                <a:ea typeface="Wingdings"/>
                <a:cs typeface="Wingdings"/>
                <a:sym typeface="Wingdings"/>
              </a:rPr>
              <a:t>Output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Diagnostic_Create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Creates the diagnostic output files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Diagnostic_Save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Saves the diagnostic variables for the output 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Diagnostic_Write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Writes the diagnostic output to the specified files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Output_Closer</a:t>
            </a:r>
            <a:r>
              <a:rPr lang="en-US" sz="1600" dirty="0">
                <a:ea typeface="Wingdings"/>
                <a:cs typeface="Wingdings"/>
                <a:sym typeface="Wingdings"/>
              </a:rPr>
              <a:t>: Closes any open files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Output_Control</a:t>
            </a:r>
            <a:r>
              <a:rPr lang="en-US" sz="1600" dirty="0">
                <a:ea typeface="Wingdings"/>
                <a:cs typeface="Wingdings"/>
                <a:sym typeface="Wingdings"/>
              </a:rPr>
              <a:t>: Updates output frequency variables and controls file creation and writing 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Output_Init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Reads in output selections and sets up output variables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Restart_Read</a:t>
            </a:r>
            <a:r>
              <a:rPr lang="en-US" sz="1600" dirty="0">
                <a:ea typeface="Wingdings"/>
                <a:cs typeface="Wingdings"/>
                <a:sym typeface="Wingdings"/>
              </a:rPr>
              <a:t>: Read the restart and equilibrium files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Restart_Write</a:t>
            </a:r>
            <a:r>
              <a:rPr lang="en-US" sz="1600" dirty="0">
                <a:ea typeface="Wingdings"/>
                <a:cs typeface="Wingdings"/>
                <a:sym typeface="Wingdings"/>
              </a:rPr>
              <a:t>: Write the restart and equilibrium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227" y="3707028"/>
            <a:ext cx="4217922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0"/>
              <a:buChar char=""/>
            </a:pPr>
            <a:r>
              <a:rPr lang="en-US" sz="2000" dirty="0">
                <a:ea typeface="Wingdings"/>
                <a:cs typeface="Wingdings"/>
                <a:sym typeface="Wingdings"/>
              </a:rPr>
              <a:t>Time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Time_Init</a:t>
            </a:r>
            <a:r>
              <a:rPr lang="en-US" sz="1600" dirty="0">
                <a:ea typeface="Wingdings"/>
                <a:cs typeface="Wingdings"/>
                <a:sym typeface="Wingdings"/>
              </a:rPr>
              <a:t>: Initializes the time variables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Time_Manager</a:t>
            </a:r>
            <a:r>
              <a:rPr lang="en-US" sz="1600" dirty="0">
                <a:ea typeface="Wingdings"/>
                <a:cs typeface="Wingdings"/>
                <a:sym typeface="Wingdings"/>
              </a:rPr>
              <a:t>: Updates the time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27" y="5093050"/>
            <a:ext cx="677681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0"/>
              <a:buChar char=""/>
            </a:pPr>
            <a:r>
              <a:rPr lang="en-US" sz="2000" dirty="0">
                <a:ea typeface="Wingdings"/>
                <a:cs typeface="Wingdings"/>
                <a:sym typeface="Wingdings"/>
              </a:rPr>
              <a:t>Miscellaneous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Kinds: Module defining variable precision for all common data types</a:t>
            </a:r>
          </a:p>
          <a:p>
            <a:r>
              <a:rPr lang="en-US" sz="1600" dirty="0">
                <a:ea typeface="Wingdings"/>
                <a:cs typeface="Wingdings"/>
                <a:sym typeface="Wingdings"/>
              </a:rPr>
              <a:t>      +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NC_Util</a:t>
            </a:r>
            <a:r>
              <a:rPr lang="en-US" sz="1600" dirty="0">
                <a:ea typeface="Wingdings"/>
                <a:cs typeface="Wingdings"/>
                <a:sym typeface="Wingdings"/>
              </a:rPr>
              <a:t>: Program to check </a:t>
            </a:r>
            <a:r>
              <a:rPr lang="en-US" sz="1600" dirty="0" err="1">
                <a:ea typeface="Wingdings"/>
                <a:cs typeface="Wingdings"/>
                <a:sym typeface="Wingdings"/>
              </a:rPr>
              <a:t>netcdf</a:t>
            </a:r>
            <a:r>
              <a:rPr lang="en-US" sz="1600" dirty="0">
                <a:ea typeface="Wingdings"/>
                <a:cs typeface="Wingdings"/>
                <a:sym typeface="Wingdings"/>
              </a:rPr>
              <a:t> functions and report errors if present</a:t>
            </a:r>
          </a:p>
        </p:txBody>
      </p:sp>
    </p:spTree>
    <p:extLst>
      <p:ext uri="{BB962C8B-B14F-4D97-AF65-F5344CB8AC3E}">
        <p14:creationId xmlns:p14="http://schemas.microsoft.com/office/powerpoint/2010/main" val="3451774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3681</TotalTime>
  <Words>4336</Words>
  <Application>Microsoft Macintosh PowerPoint</Application>
  <PresentationFormat>On-screen Show (4:3)</PresentationFormat>
  <Paragraphs>517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Helvetica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SiB4 Running Instructions</dc:title>
  <dc:subject/>
  <dc:creator>Katherine Haynes</dc:creator>
  <cp:keywords/>
  <dc:description/>
  <cp:lastModifiedBy>Haynes,Katherine</cp:lastModifiedBy>
  <cp:revision>167</cp:revision>
  <dcterms:created xsi:type="dcterms:W3CDTF">2015-12-02T04:33:07Z</dcterms:created>
  <dcterms:modified xsi:type="dcterms:W3CDTF">2019-08-17T21:42:04Z</dcterms:modified>
  <cp:category/>
</cp:coreProperties>
</file>