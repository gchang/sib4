
<file path=[Content_Types].xml><?xml version="1.0" encoding="utf-8"?>
<Types xmlns="http://schemas.openxmlformats.org/package/2006/content-types">
  <Default Extension="jpeg" ContentType="image/jpeg"/>
  <Default Extension="jpg" ContentType="image/pn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72" r:id="rId4"/>
    <p:sldId id="273" r:id="rId5"/>
    <p:sldId id="274" r:id="rId6"/>
    <p:sldId id="261" r:id="rId7"/>
    <p:sldId id="262" r:id="rId8"/>
    <p:sldId id="265" r:id="rId9"/>
    <p:sldId id="264" r:id="rId10"/>
    <p:sldId id="266" r:id="rId11"/>
    <p:sldId id="271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D1711"/>
    <a:srgbClr val="9E160D"/>
    <a:srgbClr val="FFFD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74"/>
    <p:restoredTop sz="94696"/>
  </p:normalViewPr>
  <p:slideViewPr>
    <p:cSldViewPr snapToGrid="0" snapToObjects="1">
      <p:cViewPr varScale="1">
        <p:scale>
          <a:sx n="127" d="100"/>
          <a:sy n="127" d="100"/>
        </p:scale>
        <p:origin x="176" y="7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C369BC-A06B-6F4E-B8A0-EACB7D561539}" type="datetimeFigureOut">
              <a:rPr lang="en-US" smtClean="0"/>
              <a:t>8/17/19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F732E-ED6F-0542-AEE0-42DFDAEF6B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59553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C369BC-A06B-6F4E-B8A0-EACB7D561539}" type="datetimeFigureOut">
              <a:rPr lang="en-US" smtClean="0"/>
              <a:t>8/17/19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F732E-ED6F-0542-AEE0-42DFDAEF6B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76257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C369BC-A06B-6F4E-B8A0-EACB7D561539}" type="datetimeFigureOut">
              <a:rPr lang="en-US" smtClean="0"/>
              <a:t>8/17/19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F732E-ED6F-0542-AEE0-42DFDAEF6B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60576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C369BC-A06B-6F4E-B8A0-EACB7D561539}" type="datetimeFigureOut">
              <a:rPr lang="en-US" smtClean="0"/>
              <a:t>8/17/19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F732E-ED6F-0542-AEE0-42DFDAEF6B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58565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C369BC-A06B-6F4E-B8A0-EACB7D561539}" type="datetimeFigureOut">
              <a:rPr lang="en-US" smtClean="0"/>
              <a:t>8/17/19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F732E-ED6F-0542-AEE0-42DFDAEF6B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75084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C369BC-A06B-6F4E-B8A0-EACB7D561539}" type="datetimeFigureOut">
              <a:rPr lang="en-US" smtClean="0"/>
              <a:t>8/17/19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F732E-ED6F-0542-AEE0-42DFDAEF6B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18174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C369BC-A06B-6F4E-B8A0-EACB7D561539}" type="datetimeFigureOut">
              <a:rPr lang="en-US" smtClean="0"/>
              <a:t>8/17/19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F732E-ED6F-0542-AEE0-42DFDAEF6B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1023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C369BC-A06B-6F4E-B8A0-EACB7D561539}" type="datetimeFigureOut">
              <a:rPr lang="en-US" smtClean="0"/>
              <a:t>8/17/19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F732E-ED6F-0542-AEE0-42DFDAEF6B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85072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C369BC-A06B-6F4E-B8A0-EACB7D561539}" type="datetimeFigureOut">
              <a:rPr lang="en-US" smtClean="0"/>
              <a:t>8/17/19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F732E-ED6F-0542-AEE0-42DFDAEF6B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56168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C369BC-A06B-6F4E-B8A0-EACB7D561539}" type="datetimeFigureOut">
              <a:rPr lang="en-US" smtClean="0"/>
              <a:t>8/17/19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F732E-ED6F-0542-AEE0-42DFDAEF6B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9422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C369BC-A06B-6F4E-B8A0-EACB7D561539}" type="datetimeFigureOut">
              <a:rPr lang="en-US" smtClean="0"/>
              <a:t>8/17/19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F732E-ED6F-0542-AEE0-42DFDAEF6B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04244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C369BC-A06B-6F4E-B8A0-EACB7D561539}" type="datetimeFigureOut">
              <a:rPr lang="en-US" smtClean="0"/>
              <a:t>8/17/19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DF732E-ED6F-0542-AEE0-42DFDAEF6B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37697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hyperlink" Target="mailto:Scott.Denning@colostate.edu" TargetMode="External"/><Relationship Id="rId3" Type="http://schemas.openxmlformats.org/officeDocument/2006/relationships/hyperlink" Target="https://bit.ly/2sq5adF" TargetMode="External"/><Relationship Id="rId7" Type="http://schemas.openxmlformats.org/officeDocument/2006/relationships/image" Target="../media/image5.png"/><Relationship Id="rId12" Type="http://schemas.openxmlformats.org/officeDocument/2006/relationships/hyperlink" Target="mailto:baker@atmos.colostate.edu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hyperlink" Target="mailto:Katherine.Haynes@colostate.edu" TargetMode="External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jpg"/><Relationship Id="rId14" Type="http://schemas.openxmlformats.org/officeDocument/2006/relationships/image" Target="../media/image9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hyperlink" Target="https://gitlab.com/kdhaynes/sib4v2_corral.git" TargetMode="External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hyperlink" Target="https://%3cusername%3e@gitlab.com/kdhaynes/sib4v2_corral.git" TargetMode="Externa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TextBox 73">
            <a:extLst>
              <a:ext uri="{FF2B5EF4-FFF2-40B4-BE49-F238E27FC236}">
                <a16:creationId xmlns:a16="http://schemas.microsoft.com/office/drawing/2014/main" id="{E5732257-6F61-F64C-A523-B283EF3F0B3C}"/>
              </a:ext>
            </a:extLst>
          </p:cNvPr>
          <p:cNvSpPr txBox="1"/>
          <p:nvPr/>
        </p:nvSpPr>
        <p:spPr>
          <a:xfrm>
            <a:off x="9109169" y="291301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75" name="Picture 74">
            <a:extLst>
              <a:ext uri="{FF2B5EF4-FFF2-40B4-BE49-F238E27FC236}">
                <a16:creationId xmlns:a16="http://schemas.microsoft.com/office/drawing/2014/main" id="{C4BE488F-DA43-B74B-9D25-FBA8BD336A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8000"/>
            <a:ext cx="9144000" cy="5142000"/>
          </a:xfrm>
          <a:prstGeom prst="rect">
            <a:avLst/>
          </a:prstGeom>
        </p:spPr>
      </p:pic>
      <p:sp>
        <p:nvSpPr>
          <p:cNvPr id="76" name="TextBox 75">
            <a:extLst>
              <a:ext uri="{FF2B5EF4-FFF2-40B4-BE49-F238E27FC236}">
                <a16:creationId xmlns:a16="http://schemas.microsoft.com/office/drawing/2014/main" id="{7471D602-6ADD-0848-8977-192A94D2A9E2}"/>
              </a:ext>
            </a:extLst>
          </p:cNvPr>
          <p:cNvSpPr txBox="1"/>
          <p:nvPr/>
        </p:nvSpPr>
        <p:spPr>
          <a:xfrm>
            <a:off x="3022510" y="2412917"/>
            <a:ext cx="3642344" cy="954107"/>
          </a:xfrm>
          <a:prstGeom prst="rect">
            <a:avLst/>
          </a:prstGeom>
          <a:solidFill>
            <a:srgbClr val="FFFDF1">
              <a:alpha val="90000"/>
            </a:srgbClr>
          </a:solidFill>
          <a:ln w="38100">
            <a:solidFill>
              <a:srgbClr val="9E160D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latin typeface="Helvetica"/>
                <a:cs typeface="Helvetica"/>
              </a:rPr>
              <a:t>SiB4 on Google Drive</a:t>
            </a:r>
          </a:p>
          <a:p>
            <a:pPr algn="ctr"/>
            <a:r>
              <a:rPr lang="en-US" sz="2800" dirty="0">
                <a:solidFill>
                  <a:srgbClr val="C00000"/>
                </a:solidFill>
                <a:latin typeface="Helvetica"/>
                <a:cs typeface="Helvetica"/>
                <a:hlinkClick r:id="rId3"/>
              </a:rPr>
              <a:t>https://</a:t>
            </a:r>
            <a:r>
              <a:rPr lang="en-US" sz="2800" dirty="0" err="1">
                <a:solidFill>
                  <a:srgbClr val="C00000"/>
                </a:solidFill>
                <a:latin typeface="Helvetica"/>
                <a:cs typeface="Helvetica"/>
                <a:hlinkClick r:id="rId3"/>
              </a:rPr>
              <a:t>bit.ly</a:t>
            </a:r>
            <a:r>
              <a:rPr lang="en-US" sz="2800" dirty="0">
                <a:solidFill>
                  <a:srgbClr val="C00000"/>
                </a:solidFill>
                <a:latin typeface="Helvetica"/>
                <a:cs typeface="Helvetica"/>
                <a:hlinkClick r:id="rId3"/>
              </a:rPr>
              <a:t>/2sq5adF</a:t>
            </a:r>
            <a:endParaRPr lang="en-US" sz="2800" dirty="0">
              <a:solidFill>
                <a:srgbClr val="C00000"/>
              </a:solidFill>
              <a:latin typeface="Helvetica"/>
              <a:cs typeface="Helvetica"/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043B4405-CBE4-C246-86A1-8ED31FEB353F}"/>
              </a:ext>
            </a:extLst>
          </p:cNvPr>
          <p:cNvSpPr/>
          <p:nvPr/>
        </p:nvSpPr>
        <p:spPr>
          <a:xfrm>
            <a:off x="0" y="6107643"/>
            <a:ext cx="9144000" cy="742885"/>
          </a:xfrm>
          <a:prstGeom prst="rect">
            <a:avLst/>
          </a:prstGeom>
          <a:solidFill>
            <a:srgbClr val="E1DBB4"/>
          </a:solidFill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solidFill>
                <a:schemeClr val="accent3">
                  <a:lumMod val="50000"/>
                </a:schemeClr>
              </a:solidFill>
            </a:endParaRPr>
          </a:p>
        </p:txBody>
      </p:sp>
      <p:pic>
        <p:nvPicPr>
          <p:cNvPr id="78" name="Picture 77" descr="grass-clipart-9cRBx69ce.png">
            <a:extLst>
              <a:ext uri="{FF2B5EF4-FFF2-40B4-BE49-F238E27FC236}">
                <a16:creationId xmlns:a16="http://schemas.microsoft.com/office/drawing/2014/main" id="{EA2C7F77-2BC6-9545-B0EC-495FD892AF6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6370" y="5870970"/>
            <a:ext cx="983715" cy="896820"/>
          </a:xfrm>
          <a:prstGeom prst="rect">
            <a:avLst/>
          </a:prstGeom>
        </p:spPr>
      </p:pic>
      <p:pic>
        <p:nvPicPr>
          <p:cNvPr id="79" name="Picture 78" descr="grass-clipart-9cRBx69ce.png">
            <a:extLst>
              <a:ext uri="{FF2B5EF4-FFF2-40B4-BE49-F238E27FC236}">
                <a16:creationId xmlns:a16="http://schemas.microsoft.com/office/drawing/2014/main" id="{847D4F38-9206-A946-99CC-879E20EFD0E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8227" y="5668503"/>
            <a:ext cx="1250049" cy="1139628"/>
          </a:xfrm>
          <a:prstGeom prst="rect">
            <a:avLst/>
          </a:prstGeom>
        </p:spPr>
      </p:pic>
      <p:pic>
        <p:nvPicPr>
          <p:cNvPr id="80" name="Picture 79" descr="grass-clipart-9cRBx69ce.png">
            <a:extLst>
              <a:ext uri="{FF2B5EF4-FFF2-40B4-BE49-F238E27FC236}">
                <a16:creationId xmlns:a16="http://schemas.microsoft.com/office/drawing/2014/main" id="{DD52F664-2770-1E4D-AF9C-1BEE46A1A68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5007" y="5135864"/>
            <a:ext cx="1819547" cy="1658820"/>
          </a:xfrm>
          <a:prstGeom prst="rect">
            <a:avLst/>
          </a:prstGeom>
        </p:spPr>
      </p:pic>
      <p:pic>
        <p:nvPicPr>
          <p:cNvPr id="81" name="Picture 80" descr="grass-clipart-9cRBx69ce.png">
            <a:extLst>
              <a:ext uri="{FF2B5EF4-FFF2-40B4-BE49-F238E27FC236}">
                <a16:creationId xmlns:a16="http://schemas.microsoft.com/office/drawing/2014/main" id="{0DE51D7E-5696-4443-AA0A-8AF73F00C2D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8705" y="4262163"/>
            <a:ext cx="2752559" cy="2509416"/>
          </a:xfrm>
          <a:prstGeom prst="rect">
            <a:avLst/>
          </a:prstGeom>
        </p:spPr>
      </p:pic>
      <p:pic>
        <p:nvPicPr>
          <p:cNvPr id="82" name="Picture 81" descr="grass-clipart-9cRBx69ce.png">
            <a:extLst>
              <a:ext uri="{FF2B5EF4-FFF2-40B4-BE49-F238E27FC236}">
                <a16:creationId xmlns:a16="http://schemas.microsoft.com/office/drawing/2014/main" id="{E420E868-3E36-144C-95DC-84A90E7CA7A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5140" y="4301638"/>
            <a:ext cx="2752559" cy="2509416"/>
          </a:xfrm>
          <a:prstGeom prst="rect">
            <a:avLst/>
          </a:prstGeom>
        </p:spPr>
      </p:pic>
      <p:pic>
        <p:nvPicPr>
          <p:cNvPr id="83" name="Picture 82" descr="grass-clipart-9cRBx69ce.png">
            <a:extLst>
              <a:ext uri="{FF2B5EF4-FFF2-40B4-BE49-F238E27FC236}">
                <a16:creationId xmlns:a16="http://schemas.microsoft.com/office/drawing/2014/main" id="{D6A90BDA-660D-ED4D-87A5-A2F97BF5226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2827" y="4552408"/>
            <a:ext cx="2446834" cy="2230697"/>
          </a:xfrm>
          <a:prstGeom prst="rect">
            <a:avLst/>
          </a:prstGeom>
        </p:spPr>
      </p:pic>
      <p:pic>
        <p:nvPicPr>
          <p:cNvPr id="84" name="Picture 83" descr="grass-clipart-9cRBx69ce.png">
            <a:extLst>
              <a:ext uri="{FF2B5EF4-FFF2-40B4-BE49-F238E27FC236}">
                <a16:creationId xmlns:a16="http://schemas.microsoft.com/office/drawing/2014/main" id="{782DEFC7-3433-5A4E-8387-FC3AF710A19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130" y="6286403"/>
            <a:ext cx="546572" cy="498291"/>
          </a:xfrm>
          <a:prstGeom prst="rect">
            <a:avLst/>
          </a:prstGeom>
        </p:spPr>
      </p:pic>
      <p:pic>
        <p:nvPicPr>
          <p:cNvPr id="85" name="Picture 84" descr="Clipart-sun-1.png">
            <a:extLst>
              <a:ext uri="{FF2B5EF4-FFF2-40B4-BE49-F238E27FC236}">
                <a16:creationId xmlns:a16="http://schemas.microsoft.com/office/drawing/2014/main" id="{A3BA0E02-2FFA-C544-B794-90B10E2D175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7157" y="65980"/>
            <a:ext cx="1417034" cy="1412310"/>
          </a:xfrm>
          <a:prstGeom prst="rect">
            <a:avLst/>
          </a:prstGeom>
        </p:spPr>
      </p:pic>
      <p:pic>
        <p:nvPicPr>
          <p:cNvPr id="86" name="Picture 85" descr="cloud-clip-art-4cbKy4Eki.png">
            <a:extLst>
              <a:ext uri="{FF2B5EF4-FFF2-40B4-BE49-F238E27FC236}">
                <a16:creationId xmlns:a16="http://schemas.microsoft.com/office/drawing/2014/main" id="{ACB9EA6E-7945-9345-A6C9-FC3BC53BF57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544" y="554646"/>
            <a:ext cx="1835373" cy="967291"/>
          </a:xfrm>
          <a:prstGeom prst="rect">
            <a:avLst/>
          </a:prstGeom>
        </p:spPr>
      </p:pic>
      <p:pic>
        <p:nvPicPr>
          <p:cNvPr id="87" name="Picture 86" descr="cloud-clip-art-4cbKy4Eki.png">
            <a:extLst>
              <a:ext uri="{FF2B5EF4-FFF2-40B4-BE49-F238E27FC236}">
                <a16:creationId xmlns:a16="http://schemas.microsoft.com/office/drawing/2014/main" id="{E8355C39-E233-1A49-B036-437182C32C0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660" y="366222"/>
            <a:ext cx="1835373" cy="967291"/>
          </a:xfrm>
          <a:prstGeom prst="rect">
            <a:avLst/>
          </a:prstGeom>
        </p:spPr>
      </p:pic>
      <p:pic>
        <p:nvPicPr>
          <p:cNvPr id="88" name="Picture 87" descr="cloud-clip-art-outline.png">
            <a:extLst>
              <a:ext uri="{FF2B5EF4-FFF2-40B4-BE49-F238E27FC236}">
                <a16:creationId xmlns:a16="http://schemas.microsoft.com/office/drawing/2014/main" id="{E32FD387-B6D3-5840-854A-B37EBA88659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828" y="121315"/>
            <a:ext cx="2118946" cy="1115978"/>
          </a:xfrm>
          <a:prstGeom prst="rect">
            <a:avLst/>
          </a:prstGeom>
        </p:spPr>
      </p:pic>
      <p:sp>
        <p:nvSpPr>
          <p:cNvPr id="89" name="TextBox 88">
            <a:extLst>
              <a:ext uri="{FF2B5EF4-FFF2-40B4-BE49-F238E27FC236}">
                <a16:creationId xmlns:a16="http://schemas.microsoft.com/office/drawing/2014/main" id="{7DE3BF94-245A-F740-87BF-24023606E2F4}"/>
              </a:ext>
            </a:extLst>
          </p:cNvPr>
          <p:cNvSpPr txBox="1"/>
          <p:nvPr/>
        </p:nvSpPr>
        <p:spPr>
          <a:xfrm>
            <a:off x="2352516" y="248728"/>
            <a:ext cx="4943982" cy="1077218"/>
          </a:xfrm>
          <a:prstGeom prst="rect">
            <a:avLst/>
          </a:prstGeom>
          <a:solidFill>
            <a:srgbClr val="FFFDF0"/>
          </a:solidFill>
          <a:ln w="50800">
            <a:solidFill>
              <a:srgbClr val="A01300"/>
            </a:solidFill>
          </a:ln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4B3118"/>
                </a:solidFill>
                <a:latin typeface="Helvetica"/>
                <a:cs typeface="Helvetica"/>
              </a:rPr>
              <a:t>Simple Biosphere Model</a:t>
            </a:r>
          </a:p>
          <a:p>
            <a:pPr algn="ctr"/>
            <a:r>
              <a:rPr lang="en-US" sz="3200" b="1" dirty="0">
                <a:solidFill>
                  <a:srgbClr val="4B3118"/>
                </a:solidFill>
                <a:latin typeface="Helvetica"/>
                <a:cs typeface="Helvetica"/>
              </a:rPr>
              <a:t>SiB4 Version 2</a:t>
            </a:r>
          </a:p>
        </p:txBody>
      </p:sp>
      <p:pic>
        <p:nvPicPr>
          <p:cNvPr id="90" name="Picture 89">
            <a:extLst>
              <a:ext uri="{FF2B5EF4-FFF2-40B4-BE49-F238E27FC236}">
                <a16:creationId xmlns:a16="http://schemas.microsoft.com/office/drawing/2014/main" id="{125290DE-262A-AA48-9398-FF4DABE0102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10447" y="6404012"/>
            <a:ext cx="322793" cy="430391"/>
          </a:xfrm>
          <a:prstGeom prst="rect">
            <a:avLst/>
          </a:prstGeom>
        </p:spPr>
      </p:pic>
      <p:pic>
        <p:nvPicPr>
          <p:cNvPr id="91" name="Picture 90">
            <a:extLst>
              <a:ext uri="{FF2B5EF4-FFF2-40B4-BE49-F238E27FC236}">
                <a16:creationId xmlns:a16="http://schemas.microsoft.com/office/drawing/2014/main" id="{D4CEDE95-F973-1A49-A59A-988130AE487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0992" y="6267737"/>
            <a:ext cx="437093" cy="582791"/>
          </a:xfrm>
          <a:prstGeom prst="rect">
            <a:avLst/>
          </a:prstGeom>
        </p:spPr>
      </p:pic>
      <p:pic>
        <p:nvPicPr>
          <p:cNvPr id="92" name="Picture 91">
            <a:extLst>
              <a:ext uri="{FF2B5EF4-FFF2-40B4-BE49-F238E27FC236}">
                <a16:creationId xmlns:a16="http://schemas.microsoft.com/office/drawing/2014/main" id="{BACBD972-DD13-AC40-9611-7C395B71722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2808" y="6583089"/>
            <a:ext cx="200579" cy="267439"/>
          </a:xfrm>
          <a:prstGeom prst="rect">
            <a:avLst/>
          </a:prstGeom>
        </p:spPr>
      </p:pic>
      <p:pic>
        <p:nvPicPr>
          <p:cNvPr id="93" name="Picture 92" descr="grass-clipart-9cRBx69ce.png">
            <a:extLst>
              <a:ext uri="{FF2B5EF4-FFF2-40B4-BE49-F238E27FC236}">
                <a16:creationId xmlns:a16="http://schemas.microsoft.com/office/drawing/2014/main" id="{F3233BFD-A0FC-EC47-B110-E417165932A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295" y="6629882"/>
            <a:ext cx="220081" cy="200641"/>
          </a:xfrm>
          <a:prstGeom prst="rect">
            <a:avLst/>
          </a:prstGeom>
        </p:spPr>
      </p:pic>
      <p:pic>
        <p:nvPicPr>
          <p:cNvPr id="94" name="Picture 93">
            <a:extLst>
              <a:ext uri="{FF2B5EF4-FFF2-40B4-BE49-F238E27FC236}">
                <a16:creationId xmlns:a16="http://schemas.microsoft.com/office/drawing/2014/main" id="{F01E0ABF-FFAA-F943-BD85-1A5DF465B36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6893" y="6593269"/>
            <a:ext cx="180850" cy="241134"/>
          </a:xfrm>
          <a:prstGeom prst="rect">
            <a:avLst/>
          </a:prstGeom>
        </p:spPr>
      </p:pic>
      <p:pic>
        <p:nvPicPr>
          <p:cNvPr id="95" name="Picture 94">
            <a:extLst>
              <a:ext uri="{FF2B5EF4-FFF2-40B4-BE49-F238E27FC236}">
                <a16:creationId xmlns:a16="http://schemas.microsoft.com/office/drawing/2014/main" id="{35430F2E-4246-9941-B529-2E50111E26F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3596" y="6408379"/>
            <a:ext cx="322793" cy="430391"/>
          </a:xfrm>
          <a:prstGeom prst="rect">
            <a:avLst/>
          </a:prstGeom>
        </p:spPr>
      </p:pic>
      <p:pic>
        <p:nvPicPr>
          <p:cNvPr id="96" name="Picture 95" descr="grass-clipart-9cRBx69ce.png">
            <a:extLst>
              <a:ext uri="{FF2B5EF4-FFF2-40B4-BE49-F238E27FC236}">
                <a16:creationId xmlns:a16="http://schemas.microsoft.com/office/drawing/2014/main" id="{A2DD97D0-0D7A-774B-AE83-8373A500B11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27" y="6631757"/>
            <a:ext cx="220081" cy="200641"/>
          </a:xfrm>
          <a:prstGeom prst="rect">
            <a:avLst/>
          </a:prstGeom>
        </p:spPr>
      </p:pic>
      <p:pic>
        <p:nvPicPr>
          <p:cNvPr id="97" name="Picture 96" descr="grass-clipart-9cRBx69ce.png">
            <a:extLst>
              <a:ext uri="{FF2B5EF4-FFF2-40B4-BE49-F238E27FC236}">
                <a16:creationId xmlns:a16="http://schemas.microsoft.com/office/drawing/2014/main" id="{E90CC254-46C7-D54F-91A3-D9907594B81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113" y="6631756"/>
            <a:ext cx="220081" cy="200641"/>
          </a:xfrm>
          <a:prstGeom prst="rect">
            <a:avLst/>
          </a:prstGeom>
        </p:spPr>
      </p:pic>
      <p:pic>
        <p:nvPicPr>
          <p:cNvPr id="99" name="Picture 98">
            <a:extLst>
              <a:ext uri="{FF2B5EF4-FFF2-40B4-BE49-F238E27FC236}">
                <a16:creationId xmlns:a16="http://schemas.microsoft.com/office/drawing/2014/main" id="{E0C0FEB1-3167-0A46-A8BB-D73AE38A770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88039" y="4330559"/>
            <a:ext cx="2020273" cy="2473491"/>
          </a:xfrm>
          <a:prstGeom prst="rect">
            <a:avLst/>
          </a:prstGeom>
        </p:spPr>
      </p:pic>
      <p:pic>
        <p:nvPicPr>
          <p:cNvPr id="100" name="Picture 99">
            <a:extLst>
              <a:ext uri="{FF2B5EF4-FFF2-40B4-BE49-F238E27FC236}">
                <a16:creationId xmlns:a16="http://schemas.microsoft.com/office/drawing/2014/main" id="{71AECF68-3B49-4B4C-8912-78384ED416F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73277" y="5451144"/>
            <a:ext cx="1123994" cy="1376145"/>
          </a:xfrm>
          <a:prstGeom prst="rect">
            <a:avLst/>
          </a:prstGeom>
        </p:spPr>
      </p:pic>
      <p:pic>
        <p:nvPicPr>
          <p:cNvPr id="101" name="Picture 100">
            <a:extLst>
              <a:ext uri="{FF2B5EF4-FFF2-40B4-BE49-F238E27FC236}">
                <a16:creationId xmlns:a16="http://schemas.microsoft.com/office/drawing/2014/main" id="{0FC27064-9389-B743-900F-3BE5EAC2D65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88028" y="5503403"/>
            <a:ext cx="1106394" cy="1354597"/>
          </a:xfrm>
          <a:prstGeom prst="rect">
            <a:avLst/>
          </a:prstGeom>
        </p:spPr>
      </p:pic>
      <p:pic>
        <p:nvPicPr>
          <p:cNvPr id="102" name="Picture 101">
            <a:extLst>
              <a:ext uri="{FF2B5EF4-FFF2-40B4-BE49-F238E27FC236}">
                <a16:creationId xmlns:a16="http://schemas.microsoft.com/office/drawing/2014/main" id="{0BD4D84E-935F-FB41-B68F-2B6CFF51263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89416" y="5807008"/>
            <a:ext cx="861821" cy="1055157"/>
          </a:xfrm>
          <a:prstGeom prst="rect">
            <a:avLst/>
          </a:prstGeom>
        </p:spPr>
      </p:pic>
      <p:pic>
        <p:nvPicPr>
          <p:cNvPr id="103" name="Picture 102">
            <a:extLst>
              <a:ext uri="{FF2B5EF4-FFF2-40B4-BE49-F238E27FC236}">
                <a16:creationId xmlns:a16="http://schemas.microsoft.com/office/drawing/2014/main" id="{161CB5DB-9D25-E541-AA82-F71E67A640E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18900" y="4087906"/>
            <a:ext cx="2262530" cy="2770094"/>
          </a:xfrm>
          <a:prstGeom prst="rect">
            <a:avLst/>
          </a:prstGeom>
        </p:spPr>
      </p:pic>
      <p:pic>
        <p:nvPicPr>
          <p:cNvPr id="104" name="Picture 103">
            <a:extLst>
              <a:ext uri="{FF2B5EF4-FFF2-40B4-BE49-F238E27FC236}">
                <a16:creationId xmlns:a16="http://schemas.microsoft.com/office/drawing/2014/main" id="{92327CCB-B6E1-B342-88DE-7A1BA863A63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89077" y="5140955"/>
            <a:ext cx="1225630" cy="1711656"/>
          </a:xfrm>
          <a:prstGeom prst="rect">
            <a:avLst/>
          </a:prstGeom>
        </p:spPr>
      </p:pic>
      <p:pic>
        <p:nvPicPr>
          <p:cNvPr id="105" name="Picture 104">
            <a:extLst>
              <a:ext uri="{FF2B5EF4-FFF2-40B4-BE49-F238E27FC236}">
                <a16:creationId xmlns:a16="http://schemas.microsoft.com/office/drawing/2014/main" id="{811E4942-C65F-5146-9FA7-8F05E81ADFB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374147" y="3862965"/>
            <a:ext cx="2144593" cy="2995035"/>
          </a:xfrm>
          <a:prstGeom prst="rect">
            <a:avLst/>
          </a:prstGeom>
        </p:spPr>
      </p:pic>
      <p:pic>
        <p:nvPicPr>
          <p:cNvPr id="106" name="Picture 105">
            <a:extLst>
              <a:ext uri="{FF2B5EF4-FFF2-40B4-BE49-F238E27FC236}">
                <a16:creationId xmlns:a16="http://schemas.microsoft.com/office/drawing/2014/main" id="{B8EDFE7C-C19D-E946-8F2B-7E3ECB55894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23964" y="4797610"/>
            <a:ext cx="1676762" cy="2052918"/>
          </a:xfrm>
          <a:prstGeom prst="rect">
            <a:avLst/>
          </a:prstGeom>
        </p:spPr>
      </p:pic>
      <p:pic>
        <p:nvPicPr>
          <p:cNvPr id="107" name="Picture 106">
            <a:extLst>
              <a:ext uri="{FF2B5EF4-FFF2-40B4-BE49-F238E27FC236}">
                <a16:creationId xmlns:a16="http://schemas.microsoft.com/office/drawing/2014/main" id="{0110AC08-3D4E-0C48-8134-12971E78689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24239" y="4584876"/>
            <a:ext cx="1623888" cy="2267844"/>
          </a:xfrm>
          <a:prstGeom prst="rect">
            <a:avLst/>
          </a:prstGeom>
        </p:spPr>
      </p:pic>
      <p:pic>
        <p:nvPicPr>
          <p:cNvPr id="108" name="Picture 107">
            <a:extLst>
              <a:ext uri="{FF2B5EF4-FFF2-40B4-BE49-F238E27FC236}">
                <a16:creationId xmlns:a16="http://schemas.microsoft.com/office/drawing/2014/main" id="{01DD8A53-6053-0741-BF51-F30AF5B4FBE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37119" y="5547131"/>
            <a:ext cx="916656" cy="1280158"/>
          </a:xfrm>
          <a:prstGeom prst="rect">
            <a:avLst/>
          </a:prstGeom>
        </p:spPr>
      </p:pic>
      <p:sp>
        <p:nvSpPr>
          <p:cNvPr id="143" name="TextBox 142">
            <a:extLst>
              <a:ext uri="{FF2B5EF4-FFF2-40B4-BE49-F238E27FC236}">
                <a16:creationId xmlns:a16="http://schemas.microsoft.com/office/drawing/2014/main" id="{FD05697A-8B4D-F647-B910-2FA7752CA88D}"/>
              </a:ext>
            </a:extLst>
          </p:cNvPr>
          <p:cNvSpPr txBox="1"/>
          <p:nvPr/>
        </p:nvSpPr>
        <p:spPr>
          <a:xfrm>
            <a:off x="3977833" y="1341056"/>
            <a:ext cx="1680361" cy="338554"/>
          </a:xfrm>
          <a:prstGeom prst="rect">
            <a:avLst/>
          </a:prstGeom>
          <a:solidFill>
            <a:srgbClr val="FFFDF1">
              <a:alpha val="90000"/>
            </a:srgbClr>
          </a:solidFill>
          <a:ln w="31750">
            <a:solidFill>
              <a:srgbClr val="9E160D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4B3118"/>
                </a:solidFill>
                <a:latin typeface="Helvetica"/>
                <a:cs typeface="Helvetica"/>
              </a:rPr>
              <a:t>August 18, 2019</a:t>
            </a:r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A43969D7-C033-E24F-B431-8B3630BF8C29}"/>
              </a:ext>
            </a:extLst>
          </p:cNvPr>
          <p:cNvSpPr txBox="1"/>
          <p:nvPr/>
        </p:nvSpPr>
        <p:spPr>
          <a:xfrm>
            <a:off x="1834169" y="4460184"/>
            <a:ext cx="6022803" cy="1015663"/>
          </a:xfrm>
          <a:prstGeom prst="rect">
            <a:avLst/>
          </a:prstGeom>
          <a:solidFill>
            <a:srgbClr val="FFFDF0"/>
          </a:solidFill>
          <a:ln w="50800">
            <a:solidFill>
              <a:srgbClr val="A01300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4B3118"/>
                </a:solidFill>
                <a:latin typeface="Helvetica"/>
                <a:cs typeface="Helvetica"/>
              </a:rPr>
              <a:t>Kathy Haynes </a:t>
            </a:r>
            <a:r>
              <a:rPr lang="en-US" sz="2000" b="1" dirty="0">
                <a:solidFill>
                  <a:srgbClr val="4B3118"/>
                </a:solidFill>
                <a:latin typeface="Helvetica"/>
                <a:cs typeface="Helvetica"/>
                <a:hlinkClick r:id="rId11"/>
              </a:rPr>
              <a:t>Katherine.Haynes@colostate.edu</a:t>
            </a:r>
            <a:endParaRPr lang="en-US" sz="2000" b="1" dirty="0">
              <a:solidFill>
                <a:srgbClr val="4B3118"/>
              </a:solidFill>
              <a:latin typeface="Helvetica"/>
              <a:cs typeface="Helvetica"/>
            </a:endParaRPr>
          </a:p>
          <a:p>
            <a:r>
              <a:rPr lang="en-US" sz="2000" b="1" dirty="0">
                <a:solidFill>
                  <a:srgbClr val="4B3118"/>
                </a:solidFill>
                <a:latin typeface="Helvetica"/>
                <a:cs typeface="Helvetica"/>
              </a:rPr>
              <a:t>Ian Baker </a:t>
            </a:r>
            <a:r>
              <a:rPr lang="en-US" sz="2000" b="1" dirty="0">
                <a:solidFill>
                  <a:srgbClr val="4B3118"/>
                </a:solidFill>
                <a:latin typeface="Helvetica"/>
                <a:cs typeface="Helvetica"/>
                <a:hlinkClick r:id="rId12"/>
              </a:rPr>
              <a:t>baker@atmos.colostate.edu</a:t>
            </a:r>
            <a:endParaRPr lang="en-US" sz="2000" b="1" dirty="0">
              <a:solidFill>
                <a:srgbClr val="4B3118"/>
              </a:solidFill>
              <a:latin typeface="Helvetica"/>
              <a:cs typeface="Helvetica"/>
            </a:endParaRPr>
          </a:p>
          <a:p>
            <a:r>
              <a:rPr lang="en-US" sz="2000" b="1" dirty="0">
                <a:solidFill>
                  <a:srgbClr val="4B3118"/>
                </a:solidFill>
                <a:latin typeface="Helvetica"/>
                <a:cs typeface="Helvetica"/>
              </a:rPr>
              <a:t>Scott Denning </a:t>
            </a:r>
            <a:r>
              <a:rPr lang="en-US" sz="2000" b="1" dirty="0">
                <a:solidFill>
                  <a:srgbClr val="4B3118"/>
                </a:solidFill>
                <a:latin typeface="Helvetica"/>
                <a:cs typeface="Helvetica"/>
                <a:hlinkClick r:id="rId13"/>
              </a:rPr>
              <a:t>Scott.Denning@colostate.edu</a:t>
            </a:r>
            <a:endParaRPr lang="en-US" sz="2000" b="1" dirty="0">
              <a:solidFill>
                <a:srgbClr val="4B3118"/>
              </a:solidFill>
              <a:latin typeface="Helvetica"/>
              <a:cs typeface="Helvetica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94A9248-A9CB-C248-988B-B462C12AE12F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243811" y="6094261"/>
            <a:ext cx="1094134" cy="775012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4E3903F1-C1B2-264D-8E6D-B7C2318887E8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848314" y="6234679"/>
            <a:ext cx="865129" cy="6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36527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>
            <a:extLst>
              <a:ext uri="{FF2B5EF4-FFF2-40B4-BE49-F238E27FC236}">
                <a16:creationId xmlns:a16="http://schemas.microsoft.com/office/drawing/2014/main" id="{1D11BB08-45D9-A94F-BE58-8FE8BC8747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498" y="1129825"/>
            <a:ext cx="8437003" cy="197729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BB069C2-63A3-AE46-A2AB-0C8729A1F42A}"/>
              </a:ext>
            </a:extLst>
          </p:cNvPr>
          <p:cNvSpPr txBox="1"/>
          <p:nvPr/>
        </p:nvSpPr>
        <p:spPr>
          <a:xfrm>
            <a:off x="770691" y="219432"/>
            <a:ext cx="7647431" cy="707886"/>
          </a:xfrm>
          <a:prstGeom prst="rect">
            <a:avLst/>
          </a:prstGeom>
          <a:solidFill>
            <a:srgbClr val="FFFDEE"/>
          </a:solidFill>
          <a:ln w="38100">
            <a:solidFill>
              <a:srgbClr val="9D171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Helvetica" pitchFamily="2" charset="0"/>
              </a:rPr>
              <a:t>SiB4 version code, driver data, post processing maps, site evaluation data, and output sorted by date and version. 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46FCD83-4F6A-A84C-8E4B-915014B63695}"/>
              </a:ext>
            </a:extLst>
          </p:cNvPr>
          <p:cNvCxnSpPr/>
          <p:nvPr/>
        </p:nvCxnSpPr>
        <p:spPr>
          <a:xfrm flipV="1">
            <a:off x="5120641" y="2976827"/>
            <a:ext cx="267286" cy="530849"/>
          </a:xfrm>
          <a:prstGeom prst="straightConnector1">
            <a:avLst/>
          </a:prstGeom>
          <a:ln w="50800">
            <a:solidFill>
              <a:srgbClr val="9D171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F8534FA-5A6F-5345-B761-009ADBE719A2}"/>
              </a:ext>
            </a:extLst>
          </p:cNvPr>
          <p:cNvCxnSpPr>
            <a:cxnSpLocks/>
          </p:cNvCxnSpPr>
          <p:nvPr/>
        </p:nvCxnSpPr>
        <p:spPr>
          <a:xfrm flipH="1" flipV="1">
            <a:off x="7411330" y="2949558"/>
            <a:ext cx="185224" cy="542460"/>
          </a:xfrm>
          <a:prstGeom prst="straightConnector1">
            <a:avLst/>
          </a:prstGeom>
          <a:ln w="50800">
            <a:solidFill>
              <a:srgbClr val="9D171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14D54A09-CD38-E245-B911-00B8F75096A9}"/>
              </a:ext>
            </a:extLst>
          </p:cNvPr>
          <p:cNvSpPr txBox="1"/>
          <p:nvPr/>
        </p:nvSpPr>
        <p:spPr>
          <a:xfrm>
            <a:off x="7524118" y="3278642"/>
            <a:ext cx="1052468" cy="369332"/>
          </a:xfrm>
          <a:prstGeom prst="rect">
            <a:avLst/>
          </a:prstGeom>
          <a:solidFill>
            <a:srgbClr val="FFFDEE"/>
          </a:solidFill>
          <a:ln w="15875">
            <a:solidFill>
              <a:srgbClr val="9D171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9E160D"/>
                </a:solidFill>
              </a:rPr>
              <a:t>Version 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4E4A0BD-AACD-D448-A54E-787CC59A0843}"/>
              </a:ext>
            </a:extLst>
          </p:cNvPr>
          <p:cNvSpPr txBox="1"/>
          <p:nvPr/>
        </p:nvSpPr>
        <p:spPr>
          <a:xfrm>
            <a:off x="4168654" y="3303548"/>
            <a:ext cx="1052468" cy="369332"/>
          </a:xfrm>
          <a:prstGeom prst="rect">
            <a:avLst/>
          </a:prstGeom>
          <a:solidFill>
            <a:srgbClr val="FFFDEE"/>
          </a:solidFill>
          <a:ln w="15875">
            <a:solidFill>
              <a:srgbClr val="9D171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9E160D"/>
                </a:solidFill>
              </a:rPr>
              <a:t>Version 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1A031A8-D349-0444-A708-72A1CB35706F}"/>
              </a:ext>
            </a:extLst>
          </p:cNvPr>
          <p:cNvSpPr txBox="1"/>
          <p:nvPr/>
        </p:nvSpPr>
        <p:spPr>
          <a:xfrm>
            <a:off x="539621" y="3170548"/>
            <a:ext cx="3429522" cy="892552"/>
          </a:xfrm>
          <a:prstGeom prst="rect">
            <a:avLst/>
          </a:prstGeom>
          <a:solidFill>
            <a:srgbClr val="FFFDEE"/>
          </a:solidFill>
          <a:ln w="38100">
            <a:solidFill>
              <a:srgbClr val="9D171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Latest Version 1: </a:t>
            </a:r>
            <a:r>
              <a:rPr lang="en-US" sz="2000" dirty="0">
                <a:solidFill>
                  <a:srgbClr val="9E160D"/>
                </a:solidFill>
              </a:rPr>
              <a:t>sib4v1.201904</a:t>
            </a:r>
            <a:endParaRPr lang="en-US" sz="2000" dirty="0"/>
          </a:p>
          <a:p>
            <a:pPr algn="ctr"/>
            <a:r>
              <a:rPr lang="en-US" sz="1600" dirty="0">
                <a:solidFill>
                  <a:srgbClr val="9E160D"/>
                </a:solidFill>
                <a:sym typeface="Wingdings" pitchFamily="2" charset="2"/>
              </a:rPr>
              <a:t></a:t>
            </a:r>
            <a:r>
              <a:rPr lang="en-US" sz="1600" dirty="0">
                <a:sym typeface="Wingdings" pitchFamily="2" charset="2"/>
              </a:rPr>
              <a:t> 1x1 gridded output includes post-processed GFED v4.1 fire emissions</a:t>
            </a:r>
            <a:endParaRPr lang="en-US" sz="16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227A7CA-52E1-B24E-B0FD-78E93519D560}"/>
              </a:ext>
            </a:extLst>
          </p:cNvPr>
          <p:cNvSpPr txBox="1"/>
          <p:nvPr/>
        </p:nvSpPr>
        <p:spPr>
          <a:xfrm>
            <a:off x="1027072" y="4149121"/>
            <a:ext cx="7122142" cy="2616101"/>
          </a:xfrm>
          <a:prstGeom prst="rect">
            <a:avLst/>
          </a:prstGeom>
          <a:solidFill>
            <a:srgbClr val="FFFDEE"/>
          </a:solidFill>
          <a:ln w="38100">
            <a:solidFill>
              <a:srgbClr val="9D171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Latest Version 2: </a:t>
            </a:r>
            <a:r>
              <a:rPr lang="en-US" sz="2000" dirty="0">
                <a:solidFill>
                  <a:srgbClr val="9E160D"/>
                </a:solidFill>
              </a:rPr>
              <a:t>sib4v2.201908</a:t>
            </a:r>
            <a:endParaRPr lang="en-US" sz="2000" dirty="0"/>
          </a:p>
          <a:p>
            <a:r>
              <a:rPr lang="en-US" sz="1600" dirty="0">
                <a:solidFill>
                  <a:srgbClr val="9E160D"/>
                </a:solidFill>
                <a:sym typeface="Wingdings" pitchFamily="2" charset="2"/>
              </a:rPr>
              <a:t></a:t>
            </a:r>
            <a:r>
              <a:rPr lang="en-US" sz="1600" dirty="0"/>
              <a:t> New seasonal and climatological variables for phenological and respiration </a:t>
            </a:r>
          </a:p>
          <a:p>
            <a:r>
              <a:rPr lang="en-US" sz="1600" dirty="0"/>
              <a:t>       processes calculated using running means</a:t>
            </a:r>
          </a:p>
          <a:p>
            <a:r>
              <a:rPr lang="en-US" sz="1600" dirty="0">
                <a:solidFill>
                  <a:srgbClr val="9E160D"/>
                </a:solidFill>
                <a:sym typeface="Wingdings" pitchFamily="2" charset="2"/>
              </a:rPr>
              <a:t> </a:t>
            </a:r>
            <a:r>
              <a:rPr lang="en-US" sz="1600" dirty="0"/>
              <a:t>New leaf transfer processes for senescence</a:t>
            </a:r>
          </a:p>
          <a:p>
            <a:r>
              <a:rPr lang="en-US" sz="1600" dirty="0">
                <a:solidFill>
                  <a:srgbClr val="9E160D"/>
                </a:solidFill>
                <a:sym typeface="Wingdings" pitchFamily="2" charset="2"/>
              </a:rPr>
              <a:t> </a:t>
            </a:r>
            <a:r>
              <a:rPr lang="en-US" sz="1600" dirty="0"/>
              <a:t>New respiration processes, and parameters to select PFT-appropriate behavior</a:t>
            </a:r>
          </a:p>
          <a:p>
            <a:r>
              <a:rPr lang="en-US" sz="1600" dirty="0">
                <a:solidFill>
                  <a:srgbClr val="9E160D"/>
                </a:solidFill>
                <a:sym typeface="Wingdings" pitchFamily="2" charset="2"/>
              </a:rPr>
              <a:t> </a:t>
            </a:r>
            <a:r>
              <a:rPr lang="en-US" sz="1600" dirty="0"/>
              <a:t>New inclusion of fire emissions (GFED4), with burned carbon removal from pools</a:t>
            </a:r>
          </a:p>
          <a:p>
            <a:r>
              <a:rPr lang="en-US" sz="1600" dirty="0">
                <a:solidFill>
                  <a:srgbClr val="9E160D"/>
                </a:solidFill>
                <a:sym typeface="Wingdings" pitchFamily="2" charset="2"/>
              </a:rPr>
              <a:t> </a:t>
            </a:r>
            <a:r>
              <a:rPr lang="en-US" sz="1600" dirty="0"/>
              <a:t>Updated crop growing-degree-day phenology</a:t>
            </a:r>
          </a:p>
          <a:p>
            <a:r>
              <a:rPr lang="en-US" sz="1600" dirty="0">
                <a:solidFill>
                  <a:srgbClr val="9E160D"/>
                </a:solidFill>
                <a:sym typeface="Wingdings" pitchFamily="2" charset="2"/>
              </a:rPr>
              <a:t> </a:t>
            </a:r>
            <a:r>
              <a:rPr lang="en-US" sz="1600" dirty="0"/>
              <a:t>Modified grazing scheme</a:t>
            </a:r>
          </a:p>
          <a:p>
            <a:r>
              <a:rPr lang="en-US" sz="1600" dirty="0">
                <a:solidFill>
                  <a:srgbClr val="9E160D"/>
                </a:solidFill>
                <a:sym typeface="Wingdings" pitchFamily="2" charset="2"/>
              </a:rPr>
              <a:t> </a:t>
            </a:r>
            <a:r>
              <a:rPr lang="en-US" sz="1600" dirty="0">
                <a:sym typeface="Wingdings" pitchFamily="2" charset="2"/>
              </a:rPr>
              <a:t>Adjusted</a:t>
            </a:r>
            <a:r>
              <a:rPr lang="en-US" sz="1600" dirty="0"/>
              <a:t> steady-state (equilibrium) carbon pool calculations</a:t>
            </a:r>
          </a:p>
          <a:p>
            <a:r>
              <a:rPr lang="en-US" sz="1600" dirty="0">
                <a:solidFill>
                  <a:srgbClr val="9E160D"/>
                </a:solidFill>
                <a:sym typeface="Wingdings" pitchFamily="2" charset="2"/>
              </a:rPr>
              <a:t> </a:t>
            </a:r>
            <a:r>
              <a:rPr lang="en-US" sz="1600" dirty="0"/>
              <a:t>Carbon balance checked daily</a:t>
            </a:r>
          </a:p>
        </p:txBody>
      </p:sp>
    </p:spTree>
    <p:extLst>
      <p:ext uri="{BB962C8B-B14F-4D97-AF65-F5344CB8AC3E}">
        <p14:creationId xmlns:p14="http://schemas.microsoft.com/office/powerpoint/2010/main" val="39051440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83472997-0793-9940-AEBD-3B083D87A15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1570"/>
          <a:stretch/>
        </p:blipFill>
        <p:spPr>
          <a:xfrm>
            <a:off x="278085" y="130963"/>
            <a:ext cx="8641582" cy="98974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53C54336-AEDD-1940-9235-58B88DB263A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0436" r="14373"/>
          <a:stretch/>
        </p:blipFill>
        <p:spPr>
          <a:xfrm>
            <a:off x="4711930" y="1372723"/>
            <a:ext cx="4287628" cy="5168900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08B94B81-5914-BD41-8BB3-F9AD6E2581E7}"/>
              </a:ext>
            </a:extLst>
          </p:cNvPr>
          <p:cNvCxnSpPr/>
          <p:nvPr/>
        </p:nvCxnSpPr>
        <p:spPr>
          <a:xfrm flipV="1">
            <a:off x="1684105" y="947059"/>
            <a:ext cx="267286" cy="530849"/>
          </a:xfrm>
          <a:prstGeom prst="straightConnector1">
            <a:avLst/>
          </a:prstGeom>
          <a:ln w="50800">
            <a:solidFill>
              <a:srgbClr val="9D171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D8DD09D3-D8EA-484E-9F53-1D8E2C536378}"/>
              </a:ext>
            </a:extLst>
          </p:cNvPr>
          <p:cNvSpPr txBox="1"/>
          <p:nvPr/>
        </p:nvSpPr>
        <p:spPr>
          <a:xfrm>
            <a:off x="144442" y="1308631"/>
            <a:ext cx="3079326" cy="338554"/>
          </a:xfrm>
          <a:prstGeom prst="rect">
            <a:avLst/>
          </a:prstGeom>
          <a:solidFill>
            <a:srgbClr val="FFFDEE"/>
          </a:solidFill>
          <a:ln w="38100">
            <a:solidFill>
              <a:srgbClr val="9D171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SiB4 code used to generate output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1D69E03-382B-D446-AE58-4626078C3612}"/>
              </a:ext>
            </a:extLst>
          </p:cNvPr>
          <p:cNvCxnSpPr>
            <a:cxnSpLocks/>
          </p:cNvCxnSpPr>
          <p:nvPr/>
        </p:nvCxnSpPr>
        <p:spPr>
          <a:xfrm flipV="1">
            <a:off x="3223768" y="917162"/>
            <a:ext cx="534572" cy="1293474"/>
          </a:xfrm>
          <a:prstGeom prst="straightConnector1">
            <a:avLst/>
          </a:prstGeom>
          <a:ln w="50800">
            <a:solidFill>
              <a:srgbClr val="9D171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62D3FC9D-A2C3-7046-BE3E-EA308EEC6387}"/>
              </a:ext>
            </a:extLst>
          </p:cNvPr>
          <p:cNvSpPr txBox="1"/>
          <p:nvPr/>
        </p:nvSpPr>
        <p:spPr>
          <a:xfrm>
            <a:off x="278085" y="1899276"/>
            <a:ext cx="3079326" cy="1077218"/>
          </a:xfrm>
          <a:prstGeom prst="rect">
            <a:avLst/>
          </a:prstGeom>
          <a:solidFill>
            <a:srgbClr val="FFFDEE"/>
          </a:solidFill>
          <a:ln w="38100">
            <a:solidFill>
              <a:srgbClr val="9D1711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/>
              <a:t>Post-processing datasets and maps</a:t>
            </a:r>
          </a:p>
          <a:p>
            <a:r>
              <a:rPr lang="en-US" sz="1600" dirty="0">
                <a:solidFill>
                  <a:srgbClr val="9E160D"/>
                </a:solidFill>
                <a:sym typeface="Wingdings" pitchFamily="2" charset="2"/>
              </a:rPr>
              <a:t></a:t>
            </a:r>
            <a:r>
              <a:rPr lang="en-US" sz="1600" dirty="0">
                <a:sym typeface="Wingdings" pitchFamily="2" charset="2"/>
              </a:rPr>
              <a:t> Crop redistribution</a:t>
            </a:r>
          </a:p>
          <a:p>
            <a:r>
              <a:rPr lang="en-US" sz="1600" dirty="0">
                <a:solidFill>
                  <a:srgbClr val="9E160D"/>
                </a:solidFill>
                <a:sym typeface="Wingdings" pitchFamily="2" charset="2"/>
              </a:rPr>
              <a:t></a:t>
            </a:r>
            <a:r>
              <a:rPr lang="en-US" sz="1600" dirty="0">
                <a:sym typeface="Wingdings" pitchFamily="2" charset="2"/>
              </a:rPr>
              <a:t> Grid and land mask maps</a:t>
            </a:r>
          </a:p>
          <a:p>
            <a:r>
              <a:rPr lang="en-US" sz="1600" dirty="0">
                <a:solidFill>
                  <a:srgbClr val="9E160D"/>
                </a:solidFill>
                <a:sym typeface="Wingdings" pitchFamily="2" charset="2"/>
              </a:rPr>
              <a:t></a:t>
            </a:r>
            <a:r>
              <a:rPr lang="en-US" sz="1600" dirty="0">
                <a:sym typeface="Wingdings" pitchFamily="2" charset="2"/>
              </a:rPr>
              <a:t> Native PFT and soil maps</a:t>
            </a:r>
            <a:endParaRPr lang="en-US" sz="1600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1B4A383-47A3-5749-B9D2-DDE083FAEE92}"/>
              </a:ext>
            </a:extLst>
          </p:cNvPr>
          <p:cNvCxnSpPr>
            <a:cxnSpLocks/>
          </p:cNvCxnSpPr>
          <p:nvPr/>
        </p:nvCxnSpPr>
        <p:spPr>
          <a:xfrm flipV="1">
            <a:off x="4311001" y="916419"/>
            <a:ext cx="1159213" cy="2510067"/>
          </a:xfrm>
          <a:prstGeom prst="straightConnector1">
            <a:avLst/>
          </a:prstGeom>
          <a:ln w="50800">
            <a:solidFill>
              <a:srgbClr val="9D171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EE9F89AE-998B-294A-A594-B56B200F96BB}"/>
              </a:ext>
            </a:extLst>
          </p:cNvPr>
          <p:cNvSpPr txBox="1"/>
          <p:nvPr/>
        </p:nvSpPr>
        <p:spPr>
          <a:xfrm>
            <a:off x="811108" y="3164420"/>
            <a:ext cx="3618852" cy="1323439"/>
          </a:xfrm>
          <a:prstGeom prst="rect">
            <a:avLst/>
          </a:prstGeom>
          <a:solidFill>
            <a:srgbClr val="FFFDEE"/>
          </a:solidFill>
          <a:ln w="38100">
            <a:solidFill>
              <a:srgbClr val="9D1711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/>
              <a:t>Global, region, group, and site driver data</a:t>
            </a:r>
          </a:p>
          <a:p>
            <a:r>
              <a:rPr lang="en-US" sz="1600" dirty="0">
                <a:solidFill>
                  <a:srgbClr val="9E160D"/>
                </a:solidFill>
                <a:sym typeface="Wingdings" pitchFamily="2" charset="2"/>
              </a:rPr>
              <a:t> </a:t>
            </a:r>
            <a:r>
              <a:rPr lang="en-US" sz="1600" dirty="0">
                <a:sym typeface="Wingdings" pitchFamily="2" charset="2"/>
              </a:rPr>
              <a:t>PFT tiles and soil properties</a:t>
            </a:r>
          </a:p>
          <a:p>
            <a:r>
              <a:rPr lang="en-US" sz="1600" dirty="0">
                <a:solidFill>
                  <a:srgbClr val="9E160D"/>
                </a:solidFill>
                <a:sym typeface="Wingdings" pitchFamily="2" charset="2"/>
              </a:rPr>
              <a:t> </a:t>
            </a:r>
            <a:r>
              <a:rPr lang="en-US" sz="1600" dirty="0">
                <a:sym typeface="Wingdings" pitchFamily="2" charset="2"/>
              </a:rPr>
              <a:t>MERRA2 driver data (1980-2018)</a:t>
            </a:r>
          </a:p>
          <a:p>
            <a:r>
              <a:rPr lang="en-US" sz="1600" dirty="0">
                <a:solidFill>
                  <a:srgbClr val="9E160D"/>
                </a:solidFill>
                <a:sym typeface="Wingdings" pitchFamily="2" charset="2"/>
              </a:rPr>
              <a:t> </a:t>
            </a:r>
            <a:r>
              <a:rPr lang="en-US" sz="1600" dirty="0">
                <a:sym typeface="Wingdings" pitchFamily="2" charset="2"/>
              </a:rPr>
              <a:t>GFED4 fire emissions (2003-2018)</a:t>
            </a:r>
          </a:p>
          <a:p>
            <a:r>
              <a:rPr lang="en-US" sz="1600" dirty="0">
                <a:solidFill>
                  <a:srgbClr val="9E160D"/>
                </a:solidFill>
                <a:sym typeface="Wingdings" pitchFamily="2" charset="2"/>
              </a:rPr>
              <a:t> </a:t>
            </a:r>
            <a:r>
              <a:rPr lang="en-US" sz="1600" dirty="0">
                <a:sym typeface="Wingdings" pitchFamily="2" charset="2"/>
              </a:rPr>
              <a:t>Global restart file</a:t>
            </a:r>
            <a:endParaRPr lang="en-US" sz="1600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39E77EA-A814-FA4B-9980-F1E741BF7674}"/>
              </a:ext>
            </a:extLst>
          </p:cNvPr>
          <p:cNvCxnSpPr>
            <a:cxnSpLocks/>
          </p:cNvCxnSpPr>
          <p:nvPr/>
        </p:nvCxnSpPr>
        <p:spPr>
          <a:xfrm flipV="1">
            <a:off x="5313005" y="916419"/>
            <a:ext cx="1943679" cy="4117805"/>
          </a:xfrm>
          <a:prstGeom prst="straightConnector1">
            <a:avLst/>
          </a:prstGeom>
          <a:ln w="50800">
            <a:solidFill>
              <a:srgbClr val="9D171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DA5461C1-A312-4642-8724-B37131DF63BD}"/>
              </a:ext>
            </a:extLst>
          </p:cNvPr>
          <p:cNvSpPr txBox="1"/>
          <p:nvPr/>
        </p:nvSpPr>
        <p:spPr>
          <a:xfrm>
            <a:off x="3129957" y="4638057"/>
            <a:ext cx="2362087" cy="2062103"/>
          </a:xfrm>
          <a:prstGeom prst="rect">
            <a:avLst/>
          </a:prstGeom>
          <a:solidFill>
            <a:srgbClr val="FFFDEE"/>
          </a:solidFill>
          <a:ln w="38100">
            <a:solidFill>
              <a:srgbClr val="9D1711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/>
              <a:t>SiB4 Output</a:t>
            </a:r>
          </a:p>
          <a:p>
            <a:r>
              <a:rPr lang="en-US" sz="1600" dirty="0">
                <a:solidFill>
                  <a:srgbClr val="9E160D"/>
                </a:solidFill>
                <a:sym typeface="Wingdings" pitchFamily="2" charset="2"/>
              </a:rPr>
              <a:t> </a:t>
            </a:r>
            <a:r>
              <a:rPr lang="en-US" sz="1600" dirty="0">
                <a:sym typeface="Wingdings" pitchFamily="2" charset="2"/>
              </a:rPr>
              <a:t>Global</a:t>
            </a:r>
          </a:p>
          <a:p>
            <a:r>
              <a:rPr lang="en-US" sz="1600" dirty="0">
                <a:sym typeface="Wingdings" pitchFamily="2" charset="2"/>
              </a:rPr>
              <a:t>      </a:t>
            </a:r>
            <a:r>
              <a:rPr lang="en-US" sz="1600" dirty="0">
                <a:solidFill>
                  <a:srgbClr val="9D1711"/>
                </a:solidFill>
                <a:sym typeface="Wingdings" pitchFamily="2" charset="2"/>
              </a:rPr>
              <a:t>-</a:t>
            </a:r>
            <a:r>
              <a:rPr lang="en-US" sz="1600" dirty="0">
                <a:sym typeface="Wingdings" pitchFamily="2" charset="2"/>
              </a:rPr>
              <a:t> Land Points Vector</a:t>
            </a:r>
          </a:p>
          <a:p>
            <a:r>
              <a:rPr lang="en-US" sz="1600" dirty="0">
                <a:sym typeface="Wingdings" pitchFamily="2" charset="2"/>
              </a:rPr>
              <a:t>      </a:t>
            </a:r>
            <a:r>
              <a:rPr lang="en-US" sz="1600" dirty="0">
                <a:solidFill>
                  <a:srgbClr val="9D1711"/>
                </a:solidFill>
                <a:sym typeface="Wingdings" pitchFamily="2" charset="2"/>
              </a:rPr>
              <a:t>-</a:t>
            </a:r>
            <a:r>
              <a:rPr lang="en-US" sz="1600" dirty="0">
                <a:sym typeface="Wingdings" pitchFamily="2" charset="2"/>
              </a:rPr>
              <a:t> 0.5 x 0.5 Grid</a:t>
            </a:r>
          </a:p>
          <a:p>
            <a:r>
              <a:rPr lang="en-US" sz="1600" dirty="0">
                <a:sym typeface="Wingdings" pitchFamily="2" charset="2"/>
              </a:rPr>
              <a:t>      </a:t>
            </a:r>
            <a:r>
              <a:rPr lang="en-US" sz="1600" dirty="0">
                <a:solidFill>
                  <a:srgbClr val="9D1711"/>
                </a:solidFill>
                <a:sym typeface="Wingdings" pitchFamily="2" charset="2"/>
              </a:rPr>
              <a:t>-</a:t>
            </a:r>
            <a:r>
              <a:rPr lang="en-US" sz="1600" dirty="0">
                <a:sym typeface="Wingdings" pitchFamily="2" charset="2"/>
              </a:rPr>
              <a:t> 1 x 1 Grid</a:t>
            </a:r>
          </a:p>
          <a:p>
            <a:r>
              <a:rPr lang="en-US" sz="1600" dirty="0">
                <a:solidFill>
                  <a:srgbClr val="9E160D"/>
                </a:solidFill>
                <a:sym typeface="Wingdings" pitchFamily="2" charset="2"/>
              </a:rPr>
              <a:t> </a:t>
            </a:r>
            <a:r>
              <a:rPr lang="en-US" sz="1600" dirty="0">
                <a:sym typeface="Wingdings" pitchFamily="2" charset="2"/>
              </a:rPr>
              <a:t>Regions</a:t>
            </a:r>
          </a:p>
          <a:p>
            <a:r>
              <a:rPr lang="en-US" sz="1600" dirty="0">
                <a:solidFill>
                  <a:srgbClr val="9E160D"/>
                </a:solidFill>
                <a:sym typeface="Wingdings" pitchFamily="2" charset="2"/>
              </a:rPr>
              <a:t> </a:t>
            </a:r>
            <a:r>
              <a:rPr lang="en-US" sz="1600" dirty="0">
                <a:sym typeface="Wingdings" pitchFamily="2" charset="2"/>
              </a:rPr>
              <a:t>Groups</a:t>
            </a:r>
          </a:p>
          <a:p>
            <a:r>
              <a:rPr lang="en-US" sz="1600" dirty="0">
                <a:sym typeface="Wingdings" pitchFamily="2" charset="2"/>
              </a:rPr>
              <a:t>     </a:t>
            </a:r>
            <a:r>
              <a:rPr lang="en-US" sz="1600" dirty="0">
                <a:solidFill>
                  <a:srgbClr val="9E160D"/>
                </a:solidFill>
                <a:sym typeface="Wingdings" pitchFamily="2" charset="2"/>
              </a:rPr>
              <a:t>-</a:t>
            </a:r>
            <a:r>
              <a:rPr lang="en-US" sz="1600" dirty="0">
                <a:sym typeface="Wingdings" pitchFamily="2" charset="2"/>
              </a:rPr>
              <a:t> Sites groups by PFT</a:t>
            </a:r>
          </a:p>
        </p:txBody>
      </p:sp>
    </p:spTree>
    <p:extLst>
      <p:ext uri="{BB962C8B-B14F-4D97-AF65-F5344CB8AC3E}">
        <p14:creationId xmlns:p14="http://schemas.microsoft.com/office/powerpoint/2010/main" val="39228720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83472997-0793-9940-AEBD-3B083D87A15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1570"/>
          <a:stretch/>
        </p:blipFill>
        <p:spPr>
          <a:xfrm>
            <a:off x="278085" y="130963"/>
            <a:ext cx="8641582" cy="98974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53C54336-AEDD-1940-9235-58B88DB263A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0436" r="14373"/>
          <a:stretch/>
        </p:blipFill>
        <p:spPr>
          <a:xfrm>
            <a:off x="2554606" y="1328170"/>
            <a:ext cx="4287628" cy="5168900"/>
          </a:xfrm>
          <a:prstGeom prst="rect">
            <a:avLst/>
          </a:prstGeom>
        </p:spPr>
      </p:pic>
      <p:sp>
        <p:nvSpPr>
          <p:cNvPr id="14" name="Donut 13">
            <a:extLst>
              <a:ext uri="{FF2B5EF4-FFF2-40B4-BE49-F238E27FC236}">
                <a16:creationId xmlns:a16="http://schemas.microsoft.com/office/drawing/2014/main" id="{007A982C-F693-CD4C-BA44-9C7AA24BDE36}"/>
              </a:ext>
            </a:extLst>
          </p:cNvPr>
          <p:cNvSpPr/>
          <p:nvPr/>
        </p:nvSpPr>
        <p:spPr>
          <a:xfrm>
            <a:off x="4656593" y="278834"/>
            <a:ext cx="2021355" cy="989743"/>
          </a:xfrm>
          <a:prstGeom prst="donut">
            <a:avLst>
              <a:gd name="adj" fmla="val 5697"/>
            </a:avLst>
          </a:prstGeom>
          <a:solidFill>
            <a:srgbClr val="9D1711"/>
          </a:solidFill>
          <a:ln>
            <a:solidFill>
              <a:srgbClr val="9D171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D4CA1C7-7E34-E748-8EBE-490D99928603}"/>
              </a:ext>
            </a:extLst>
          </p:cNvPr>
          <p:cNvSpPr txBox="1"/>
          <p:nvPr/>
        </p:nvSpPr>
        <p:spPr>
          <a:xfrm>
            <a:off x="1878649" y="2903243"/>
            <a:ext cx="1923871" cy="1169551"/>
          </a:xfrm>
          <a:prstGeom prst="rect">
            <a:avLst/>
          </a:prstGeom>
          <a:solidFill>
            <a:srgbClr val="FFFDEE"/>
          </a:solidFill>
          <a:ln w="19050">
            <a:solidFill>
              <a:srgbClr val="9E160D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rgbClr val="9E160D"/>
                </a:solidFill>
              </a:rPr>
              <a:t>Global Fire Emissions Database (GFED 4.1)</a:t>
            </a:r>
          </a:p>
          <a:p>
            <a:r>
              <a:rPr lang="en-US" sz="1400" b="1" dirty="0">
                <a:solidFill>
                  <a:srgbClr val="9E160D"/>
                </a:solidFill>
                <a:sym typeface="Wingdings" pitchFamily="2" charset="2"/>
              </a:rPr>
              <a:t></a:t>
            </a:r>
            <a:r>
              <a:rPr lang="en-US" sz="1400" b="1" dirty="0">
                <a:sym typeface="Wingdings" pitchFamily="2" charset="2"/>
              </a:rPr>
              <a:t> </a:t>
            </a:r>
            <a:r>
              <a:rPr lang="en-US" sz="1400" b="1" dirty="0"/>
              <a:t>2003-2018</a:t>
            </a:r>
          </a:p>
          <a:p>
            <a:r>
              <a:rPr lang="en-US" sz="1400" b="1" dirty="0">
                <a:solidFill>
                  <a:srgbClr val="9E160D"/>
                </a:solidFill>
                <a:sym typeface="Wingdings" pitchFamily="2" charset="2"/>
              </a:rPr>
              <a:t> </a:t>
            </a:r>
            <a:r>
              <a:rPr lang="en-US" sz="1400" b="1" dirty="0"/>
              <a:t>0.5 x 0.5 Degrees</a:t>
            </a:r>
          </a:p>
          <a:p>
            <a:r>
              <a:rPr lang="en-US" sz="1400" b="1" dirty="0">
                <a:solidFill>
                  <a:srgbClr val="9E160D"/>
                </a:solidFill>
                <a:sym typeface="Wingdings" pitchFamily="2" charset="2"/>
              </a:rPr>
              <a:t> </a:t>
            </a:r>
            <a:r>
              <a:rPr lang="en-US" sz="1400" b="1" dirty="0"/>
              <a:t>C and CO</a:t>
            </a:r>
            <a:r>
              <a:rPr lang="en-US" sz="1400" b="1" baseline="-25000" dirty="0"/>
              <a:t>2</a:t>
            </a:r>
            <a:r>
              <a:rPr lang="en-US" sz="1400" b="1" dirty="0"/>
              <a:t> Emissions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95B1429-89D0-8D4F-9FED-F0D8D2D82E11}"/>
              </a:ext>
            </a:extLst>
          </p:cNvPr>
          <p:cNvSpPr txBox="1"/>
          <p:nvPr/>
        </p:nvSpPr>
        <p:spPr>
          <a:xfrm>
            <a:off x="112107" y="5941168"/>
            <a:ext cx="3533083" cy="523220"/>
          </a:xfrm>
          <a:prstGeom prst="rect">
            <a:avLst/>
          </a:prstGeom>
          <a:solidFill>
            <a:srgbClr val="FFFDEE"/>
          </a:solidFill>
          <a:ln w="19050">
            <a:solidFill>
              <a:srgbClr val="9E160D"/>
            </a:solidFill>
          </a:ln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9E160D"/>
                </a:solidFill>
                <a:sym typeface="Wingdings" pitchFamily="2" charset="2"/>
              </a:rPr>
              <a:t> </a:t>
            </a:r>
            <a:r>
              <a:rPr lang="en-US" sz="1400" b="1" dirty="0"/>
              <a:t>Restart file with equilibrium pools</a:t>
            </a:r>
          </a:p>
          <a:p>
            <a:r>
              <a:rPr lang="en-US" sz="1400" b="1" dirty="0">
                <a:solidFill>
                  <a:srgbClr val="9E160D"/>
                </a:solidFill>
                <a:sym typeface="Wingdings" pitchFamily="2" charset="2"/>
              </a:rPr>
              <a:t> </a:t>
            </a:r>
            <a:r>
              <a:rPr lang="en-US" sz="1400" b="1" dirty="0"/>
              <a:t>Vegetation structure file with PFT/soil info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A8CA9CB8-5242-8049-A1F6-3806B9FCDE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44231" y="1523266"/>
            <a:ext cx="4514846" cy="1219199"/>
          </a:xfrm>
          <a:prstGeom prst="rect">
            <a:avLst/>
          </a:prstGeom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39E77EA-A814-FA4B-9980-F1E741BF7674}"/>
              </a:ext>
            </a:extLst>
          </p:cNvPr>
          <p:cNvCxnSpPr>
            <a:cxnSpLocks/>
          </p:cNvCxnSpPr>
          <p:nvPr/>
        </p:nvCxnSpPr>
        <p:spPr>
          <a:xfrm flipH="1">
            <a:off x="3802520" y="1158208"/>
            <a:ext cx="1259024" cy="512930"/>
          </a:xfrm>
          <a:prstGeom prst="straightConnector1">
            <a:avLst/>
          </a:prstGeom>
          <a:ln w="50800">
            <a:solidFill>
              <a:srgbClr val="9D171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5" name="Picture 34">
            <a:extLst>
              <a:ext uri="{FF2B5EF4-FFF2-40B4-BE49-F238E27FC236}">
                <a16:creationId xmlns:a16="http://schemas.microsoft.com/office/drawing/2014/main" id="{7790CAB9-1D8D-6243-8734-BC8169EF3F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9539" y="3026055"/>
            <a:ext cx="1616454" cy="2181106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385C3BA2-9E62-984A-B0BA-041FC3E4A5B9}"/>
              </a:ext>
            </a:extLst>
          </p:cNvPr>
          <p:cNvSpPr txBox="1"/>
          <p:nvPr/>
        </p:nvSpPr>
        <p:spPr>
          <a:xfrm>
            <a:off x="1878649" y="4207647"/>
            <a:ext cx="3032094" cy="1600438"/>
          </a:xfrm>
          <a:prstGeom prst="rect">
            <a:avLst/>
          </a:prstGeom>
          <a:solidFill>
            <a:srgbClr val="FFFDEE"/>
          </a:solidFill>
          <a:ln w="19050">
            <a:solidFill>
              <a:srgbClr val="9E160D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9E160D"/>
                </a:solidFill>
                <a:sym typeface="Wingdings" pitchFamily="2" charset="2"/>
              </a:rPr>
              <a:t>Modern-Era Retrospective analysis for Research and Applications (MERRA 2)</a:t>
            </a:r>
          </a:p>
          <a:p>
            <a:r>
              <a:rPr lang="en-US" sz="1400" b="1" dirty="0">
                <a:solidFill>
                  <a:srgbClr val="9E160D"/>
                </a:solidFill>
                <a:sym typeface="Wingdings" pitchFamily="2" charset="2"/>
              </a:rPr>
              <a:t></a:t>
            </a:r>
            <a:r>
              <a:rPr lang="en-US" sz="1400" b="1" dirty="0">
                <a:sym typeface="Wingdings" pitchFamily="2" charset="2"/>
              </a:rPr>
              <a:t> 1980-2018</a:t>
            </a:r>
            <a:endParaRPr lang="en-US" sz="1400" b="1" dirty="0"/>
          </a:p>
          <a:p>
            <a:r>
              <a:rPr lang="en-US" sz="1400" b="1" dirty="0">
                <a:solidFill>
                  <a:srgbClr val="9E160D"/>
                </a:solidFill>
                <a:sym typeface="Wingdings" pitchFamily="2" charset="2"/>
              </a:rPr>
              <a:t> </a:t>
            </a:r>
            <a:r>
              <a:rPr lang="en-US" sz="1400" b="1" dirty="0"/>
              <a:t>0.5 x 0.5 Degrees</a:t>
            </a:r>
          </a:p>
          <a:p>
            <a:r>
              <a:rPr lang="en-US" sz="1400" b="1" dirty="0">
                <a:solidFill>
                  <a:srgbClr val="9E160D"/>
                </a:solidFill>
                <a:sym typeface="Wingdings" pitchFamily="2" charset="2"/>
              </a:rPr>
              <a:t> </a:t>
            </a:r>
            <a:r>
              <a:rPr lang="en-US" sz="1400" b="1" dirty="0"/>
              <a:t>Precipitation scaled to Global Precipitation Climatology Project (GPCP 2.3)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B95ACD12-DDBC-E34A-9BF0-F538A80358B5}"/>
              </a:ext>
            </a:extLst>
          </p:cNvPr>
          <p:cNvCxnSpPr>
            <a:cxnSpLocks/>
          </p:cNvCxnSpPr>
          <p:nvPr/>
        </p:nvCxnSpPr>
        <p:spPr>
          <a:xfrm flipV="1">
            <a:off x="1607736" y="3979732"/>
            <a:ext cx="251689" cy="136877"/>
          </a:xfrm>
          <a:prstGeom prst="straightConnector1">
            <a:avLst/>
          </a:prstGeom>
          <a:ln w="31750">
            <a:solidFill>
              <a:srgbClr val="9D171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EA13E809-460C-B14E-9B9C-0970148AD552}"/>
              </a:ext>
            </a:extLst>
          </p:cNvPr>
          <p:cNvCxnSpPr>
            <a:cxnSpLocks/>
          </p:cNvCxnSpPr>
          <p:nvPr/>
        </p:nvCxnSpPr>
        <p:spPr>
          <a:xfrm flipV="1">
            <a:off x="1607736" y="4438159"/>
            <a:ext cx="270913" cy="18410"/>
          </a:xfrm>
          <a:prstGeom prst="straightConnector1">
            <a:avLst/>
          </a:prstGeom>
          <a:ln w="31750">
            <a:solidFill>
              <a:srgbClr val="9D171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5ACB1E2E-AF15-C046-869B-0626A30B7256}"/>
              </a:ext>
            </a:extLst>
          </p:cNvPr>
          <p:cNvCxnSpPr>
            <a:cxnSpLocks/>
          </p:cNvCxnSpPr>
          <p:nvPr/>
        </p:nvCxnSpPr>
        <p:spPr>
          <a:xfrm>
            <a:off x="526648" y="4823209"/>
            <a:ext cx="0" cy="984876"/>
          </a:xfrm>
          <a:prstGeom prst="straightConnector1">
            <a:avLst/>
          </a:prstGeom>
          <a:ln w="31750">
            <a:solidFill>
              <a:srgbClr val="9D171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6" name="Picture 55">
            <a:extLst>
              <a:ext uri="{FF2B5EF4-FFF2-40B4-BE49-F238E27FC236}">
                <a16:creationId xmlns:a16="http://schemas.microsoft.com/office/drawing/2014/main" id="{0A31EF3D-0267-C943-A7C7-C0642FE753F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46716" y="2903243"/>
            <a:ext cx="1657292" cy="2489089"/>
          </a:xfrm>
          <a:prstGeom prst="rect">
            <a:avLst/>
          </a:prstGeom>
        </p:spPr>
      </p:pic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8B47FAEA-9844-1D4B-BE6E-22EA835EB693}"/>
              </a:ext>
            </a:extLst>
          </p:cNvPr>
          <p:cNvCxnSpPr>
            <a:cxnSpLocks/>
          </p:cNvCxnSpPr>
          <p:nvPr/>
        </p:nvCxnSpPr>
        <p:spPr>
          <a:xfrm>
            <a:off x="5370759" y="2570197"/>
            <a:ext cx="70350" cy="4096835"/>
          </a:xfrm>
          <a:prstGeom prst="straightConnector1">
            <a:avLst/>
          </a:prstGeom>
          <a:ln w="50800">
            <a:solidFill>
              <a:srgbClr val="9D1711"/>
            </a:solidFill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F0921479-798C-5D45-8950-BC1D036E91E7}"/>
              </a:ext>
            </a:extLst>
          </p:cNvPr>
          <p:cNvSpPr txBox="1"/>
          <p:nvPr/>
        </p:nvSpPr>
        <p:spPr>
          <a:xfrm>
            <a:off x="6785492" y="5529830"/>
            <a:ext cx="2299646" cy="738664"/>
          </a:xfrm>
          <a:prstGeom prst="rect">
            <a:avLst/>
          </a:prstGeom>
          <a:solidFill>
            <a:srgbClr val="FFFDEE"/>
          </a:solidFill>
          <a:ln w="19050">
            <a:solidFill>
              <a:srgbClr val="9E160D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9E160D"/>
                </a:solidFill>
                <a:sym typeface="Wingdings" pitchFamily="2" charset="2"/>
              </a:rPr>
              <a:t> </a:t>
            </a:r>
            <a:r>
              <a:rPr lang="en-US" sz="1400" b="1" dirty="0"/>
              <a:t>Sites listed alphabetically</a:t>
            </a:r>
          </a:p>
          <a:p>
            <a:r>
              <a:rPr lang="en-US" sz="1400" b="1" dirty="0">
                <a:solidFill>
                  <a:srgbClr val="9E160D"/>
                </a:solidFill>
                <a:sym typeface="Wingdings" pitchFamily="2" charset="2"/>
              </a:rPr>
              <a:t> </a:t>
            </a:r>
            <a:r>
              <a:rPr lang="en-US" sz="1400" b="1" dirty="0">
                <a:sym typeface="Wingdings" pitchFamily="2" charset="2"/>
              </a:rPr>
              <a:t>MERRA2 </a:t>
            </a:r>
            <a:r>
              <a:rPr lang="en-US" sz="1400" b="1" dirty="0"/>
              <a:t>and vegetation structure files included</a:t>
            </a:r>
          </a:p>
        </p:txBody>
      </p:sp>
    </p:spTree>
    <p:extLst>
      <p:ext uri="{BB962C8B-B14F-4D97-AF65-F5344CB8AC3E}">
        <p14:creationId xmlns:p14="http://schemas.microsoft.com/office/powerpoint/2010/main" val="20945918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83472997-0793-9940-AEBD-3B083D87A15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1570"/>
          <a:stretch/>
        </p:blipFill>
        <p:spPr>
          <a:xfrm>
            <a:off x="278085" y="130963"/>
            <a:ext cx="8641582" cy="98974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53C54336-AEDD-1940-9235-58B88DB263A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0436" r="14373"/>
          <a:stretch/>
        </p:blipFill>
        <p:spPr>
          <a:xfrm>
            <a:off x="2554606" y="1328170"/>
            <a:ext cx="4287628" cy="5168900"/>
          </a:xfrm>
          <a:prstGeom prst="rect">
            <a:avLst/>
          </a:prstGeom>
        </p:spPr>
      </p:pic>
      <p:sp>
        <p:nvSpPr>
          <p:cNvPr id="14" name="Donut 13">
            <a:extLst>
              <a:ext uri="{FF2B5EF4-FFF2-40B4-BE49-F238E27FC236}">
                <a16:creationId xmlns:a16="http://schemas.microsoft.com/office/drawing/2014/main" id="{007A982C-F693-CD4C-BA44-9C7AA24BDE36}"/>
              </a:ext>
            </a:extLst>
          </p:cNvPr>
          <p:cNvSpPr/>
          <p:nvPr/>
        </p:nvSpPr>
        <p:spPr>
          <a:xfrm>
            <a:off x="6604055" y="227808"/>
            <a:ext cx="2315612" cy="1299541"/>
          </a:xfrm>
          <a:prstGeom prst="donut">
            <a:avLst>
              <a:gd name="adj" fmla="val 5697"/>
            </a:avLst>
          </a:prstGeom>
          <a:solidFill>
            <a:srgbClr val="9D1711"/>
          </a:solidFill>
          <a:ln>
            <a:solidFill>
              <a:srgbClr val="9D171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324D7B6-72EE-964A-8FB0-4848359926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8507" y="3010849"/>
            <a:ext cx="8673163" cy="1375284"/>
          </a:xfrm>
          <a:prstGeom prst="rect">
            <a:avLst/>
          </a:prstGeom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39E77EA-A814-FA4B-9980-F1E741BF7674}"/>
              </a:ext>
            </a:extLst>
          </p:cNvPr>
          <p:cNvCxnSpPr>
            <a:cxnSpLocks/>
          </p:cNvCxnSpPr>
          <p:nvPr/>
        </p:nvCxnSpPr>
        <p:spPr>
          <a:xfrm flipH="1">
            <a:off x="3526971" y="1217550"/>
            <a:ext cx="3296039" cy="1804988"/>
          </a:xfrm>
          <a:prstGeom prst="straightConnector1">
            <a:avLst/>
          </a:prstGeom>
          <a:ln w="50800">
            <a:solidFill>
              <a:srgbClr val="9D171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Left Brace 20">
            <a:extLst>
              <a:ext uri="{FF2B5EF4-FFF2-40B4-BE49-F238E27FC236}">
                <a16:creationId xmlns:a16="http://schemas.microsoft.com/office/drawing/2014/main" id="{2EB5D3C8-594F-4143-9871-26A83AE004CA}"/>
              </a:ext>
            </a:extLst>
          </p:cNvPr>
          <p:cNvSpPr/>
          <p:nvPr/>
        </p:nvSpPr>
        <p:spPr>
          <a:xfrm rot="16200000">
            <a:off x="2534426" y="2656476"/>
            <a:ext cx="502920" cy="3893820"/>
          </a:xfrm>
          <a:prstGeom prst="leftBrace">
            <a:avLst>
              <a:gd name="adj1" fmla="val 9496"/>
              <a:gd name="adj2" fmla="val 50000"/>
            </a:avLst>
          </a:prstGeom>
          <a:ln w="31750">
            <a:solidFill>
              <a:srgbClr val="9D171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D4CA1C7-7E34-E748-8EBE-490D99928603}"/>
              </a:ext>
            </a:extLst>
          </p:cNvPr>
          <p:cNvSpPr txBox="1"/>
          <p:nvPr/>
        </p:nvSpPr>
        <p:spPr>
          <a:xfrm>
            <a:off x="1157087" y="4895199"/>
            <a:ext cx="3253968" cy="646331"/>
          </a:xfrm>
          <a:prstGeom prst="rect">
            <a:avLst/>
          </a:prstGeom>
          <a:solidFill>
            <a:srgbClr val="FFFDEE"/>
          </a:solidFill>
          <a:ln w="19050">
            <a:solidFill>
              <a:srgbClr val="9E160D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rgbClr val="9E160D"/>
                </a:solidFill>
              </a:rPr>
              <a:t>Gridded</a:t>
            </a:r>
          </a:p>
          <a:p>
            <a:r>
              <a:rPr lang="en-US" b="1" dirty="0">
                <a:solidFill>
                  <a:srgbClr val="9E160D"/>
                </a:solidFill>
              </a:rPr>
              <a:t> Area-Weighted, Unstacked PFTs</a:t>
            </a:r>
          </a:p>
        </p:txBody>
      </p:sp>
      <p:sp>
        <p:nvSpPr>
          <p:cNvPr id="23" name="Left Brace 22">
            <a:extLst>
              <a:ext uri="{FF2B5EF4-FFF2-40B4-BE49-F238E27FC236}">
                <a16:creationId xmlns:a16="http://schemas.microsoft.com/office/drawing/2014/main" id="{9FBFC5FB-7C5F-7348-8DFC-9A8A02F74CEF}"/>
              </a:ext>
            </a:extLst>
          </p:cNvPr>
          <p:cNvSpPr/>
          <p:nvPr/>
        </p:nvSpPr>
        <p:spPr>
          <a:xfrm rot="5400000">
            <a:off x="5631878" y="2651150"/>
            <a:ext cx="458393" cy="1923870"/>
          </a:xfrm>
          <a:prstGeom prst="leftBrace">
            <a:avLst>
              <a:gd name="adj1" fmla="val 9496"/>
              <a:gd name="adj2" fmla="val 50000"/>
            </a:avLst>
          </a:prstGeom>
          <a:ln w="31750">
            <a:solidFill>
              <a:srgbClr val="9E160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AF93457-A129-0248-8541-3530EB47299F}"/>
              </a:ext>
            </a:extLst>
          </p:cNvPr>
          <p:cNvSpPr txBox="1"/>
          <p:nvPr/>
        </p:nvSpPr>
        <p:spPr>
          <a:xfrm>
            <a:off x="4743514" y="2452339"/>
            <a:ext cx="2878802" cy="923330"/>
          </a:xfrm>
          <a:prstGeom prst="rect">
            <a:avLst/>
          </a:prstGeom>
          <a:solidFill>
            <a:srgbClr val="FFFDEE"/>
          </a:solidFill>
          <a:ln w="19050">
            <a:solidFill>
              <a:srgbClr val="9D171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9E160D"/>
                </a:solidFill>
              </a:rPr>
              <a:t>Land Points Only</a:t>
            </a:r>
          </a:p>
          <a:p>
            <a:pPr algn="ctr"/>
            <a:r>
              <a:rPr lang="en-US" b="1" dirty="0">
                <a:solidFill>
                  <a:srgbClr val="9E160D"/>
                </a:solidFill>
              </a:rPr>
              <a:t>10 Non-Weighted PFTs</a:t>
            </a:r>
          </a:p>
          <a:p>
            <a:pPr algn="ctr"/>
            <a:r>
              <a:rPr lang="en-US" b="1" dirty="0">
                <a:solidFill>
                  <a:srgbClr val="9E160D"/>
                </a:solidFill>
              </a:rPr>
              <a:t>(per grid cell)</a:t>
            </a:r>
          </a:p>
        </p:txBody>
      </p:sp>
      <p:sp>
        <p:nvSpPr>
          <p:cNvPr id="25" name="Left Brace 24">
            <a:extLst>
              <a:ext uri="{FF2B5EF4-FFF2-40B4-BE49-F238E27FC236}">
                <a16:creationId xmlns:a16="http://schemas.microsoft.com/office/drawing/2014/main" id="{A362D810-771F-D84A-9A30-F170BFCA3535}"/>
              </a:ext>
            </a:extLst>
          </p:cNvPr>
          <p:cNvSpPr/>
          <p:nvPr/>
        </p:nvSpPr>
        <p:spPr>
          <a:xfrm rot="16200000">
            <a:off x="7728536" y="3619187"/>
            <a:ext cx="458393" cy="1923870"/>
          </a:xfrm>
          <a:prstGeom prst="leftBrace">
            <a:avLst>
              <a:gd name="adj1" fmla="val 9496"/>
              <a:gd name="adj2" fmla="val 50000"/>
            </a:avLst>
          </a:prstGeom>
          <a:ln w="31750">
            <a:solidFill>
              <a:srgbClr val="9E160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95B1429-89D0-8D4F-9FED-F0D8D2D82E11}"/>
              </a:ext>
            </a:extLst>
          </p:cNvPr>
          <p:cNvSpPr txBox="1"/>
          <p:nvPr/>
        </p:nvSpPr>
        <p:spPr>
          <a:xfrm>
            <a:off x="5748286" y="4810319"/>
            <a:ext cx="3284746" cy="923330"/>
          </a:xfrm>
          <a:prstGeom prst="rect">
            <a:avLst/>
          </a:prstGeom>
          <a:solidFill>
            <a:srgbClr val="FFFDEE"/>
          </a:solidFill>
          <a:ln w="19050">
            <a:solidFill>
              <a:srgbClr val="9E160D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rgbClr val="9E160D"/>
                </a:solidFill>
              </a:rPr>
              <a:t>NEE, GPP, RE, LAI </a:t>
            </a:r>
          </a:p>
          <a:p>
            <a:pPr algn="ctr"/>
            <a:r>
              <a:rPr lang="en-US" b="1" dirty="0">
                <a:solidFill>
                  <a:srgbClr val="9E160D"/>
                </a:solidFill>
              </a:rPr>
              <a:t>FLUXNET / MODIS Comparisons</a:t>
            </a:r>
          </a:p>
          <a:p>
            <a:pPr algn="ctr"/>
            <a:r>
              <a:rPr lang="en-US" b="1" dirty="0">
                <a:solidFill>
                  <a:srgbClr val="9E160D"/>
                </a:solidFill>
              </a:rPr>
              <a:t>350 Sites, Hourly/Daily/Monthly</a:t>
            </a:r>
          </a:p>
        </p:txBody>
      </p:sp>
    </p:spTree>
    <p:extLst>
      <p:ext uri="{BB962C8B-B14F-4D97-AF65-F5344CB8AC3E}">
        <p14:creationId xmlns:p14="http://schemas.microsoft.com/office/powerpoint/2010/main" val="14220996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7AF9142-07DA-EC47-898D-127BD60753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21" y="168363"/>
            <a:ext cx="8936778" cy="92333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29EE008-4F83-614D-86A5-116A4C9EC091}"/>
              </a:ext>
            </a:extLst>
          </p:cNvPr>
          <p:cNvSpPr txBox="1"/>
          <p:nvPr/>
        </p:nvSpPr>
        <p:spPr>
          <a:xfrm>
            <a:off x="60121" y="1328170"/>
            <a:ext cx="2948692" cy="646331"/>
          </a:xfrm>
          <a:prstGeom prst="rect">
            <a:avLst/>
          </a:prstGeom>
          <a:solidFill>
            <a:srgbClr val="FFFDEE"/>
          </a:solidFill>
          <a:ln w="19050">
            <a:solidFill>
              <a:srgbClr val="9D171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1998-2018 ‘Climatology’</a:t>
            </a:r>
          </a:p>
          <a:p>
            <a:pPr algn="ctr"/>
            <a:r>
              <a:rPr lang="en-US" dirty="0"/>
              <a:t>Hourly, Daily, Monthly Means</a:t>
            </a:r>
          </a:p>
        </p:txBody>
      </p:sp>
      <p:sp>
        <p:nvSpPr>
          <p:cNvPr id="18" name="Left Brace 17">
            <a:extLst>
              <a:ext uri="{FF2B5EF4-FFF2-40B4-BE49-F238E27FC236}">
                <a16:creationId xmlns:a16="http://schemas.microsoft.com/office/drawing/2014/main" id="{EC0F72B3-FBD7-F148-AD9D-BD9D207DA452}"/>
              </a:ext>
            </a:extLst>
          </p:cNvPr>
          <p:cNvSpPr/>
          <p:nvPr/>
        </p:nvSpPr>
        <p:spPr>
          <a:xfrm rot="16200000">
            <a:off x="835772" y="288945"/>
            <a:ext cx="304020" cy="1605495"/>
          </a:xfrm>
          <a:prstGeom prst="leftBrace">
            <a:avLst>
              <a:gd name="adj1" fmla="val 9496"/>
              <a:gd name="adj2" fmla="val 51826"/>
            </a:avLst>
          </a:prstGeom>
          <a:ln w="31750">
            <a:solidFill>
              <a:srgbClr val="9D171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Left Brace 18">
            <a:extLst>
              <a:ext uri="{FF2B5EF4-FFF2-40B4-BE49-F238E27FC236}">
                <a16:creationId xmlns:a16="http://schemas.microsoft.com/office/drawing/2014/main" id="{88D10BBF-FE3C-9D44-89F0-463A6E0C5787}"/>
              </a:ext>
            </a:extLst>
          </p:cNvPr>
          <p:cNvSpPr/>
          <p:nvPr/>
        </p:nvSpPr>
        <p:spPr>
          <a:xfrm rot="16200000">
            <a:off x="7911512" y="364949"/>
            <a:ext cx="304020" cy="1605495"/>
          </a:xfrm>
          <a:prstGeom prst="leftBrace">
            <a:avLst>
              <a:gd name="adj1" fmla="val 9496"/>
              <a:gd name="adj2" fmla="val 51826"/>
            </a:avLst>
          </a:prstGeom>
          <a:ln w="31750">
            <a:solidFill>
              <a:srgbClr val="9E160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3D9CA4C-7A07-6849-8A5E-6AD6B9584103}"/>
              </a:ext>
            </a:extLst>
          </p:cNvPr>
          <p:cNvSpPr txBox="1"/>
          <p:nvPr/>
        </p:nvSpPr>
        <p:spPr>
          <a:xfrm>
            <a:off x="6668185" y="1370875"/>
            <a:ext cx="2328714" cy="923330"/>
          </a:xfrm>
          <a:prstGeom prst="rect">
            <a:avLst/>
          </a:prstGeom>
          <a:solidFill>
            <a:srgbClr val="FFFDEE"/>
          </a:solidFill>
          <a:ln w="19050">
            <a:solidFill>
              <a:srgbClr val="9E160D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GPP and RE Multipliers</a:t>
            </a:r>
          </a:p>
          <a:p>
            <a:pPr algn="ctr"/>
            <a:r>
              <a:rPr lang="en-US" dirty="0"/>
              <a:t>Per Grid Cell Per PFT</a:t>
            </a:r>
          </a:p>
          <a:p>
            <a:pPr algn="ctr"/>
            <a:r>
              <a:rPr lang="en-US" dirty="0"/>
              <a:t>~3.3 Gt C Sink Per Year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397D07F-8253-F04B-A1AD-D694C88C7A0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0436" r="14373"/>
          <a:stretch/>
        </p:blipFill>
        <p:spPr>
          <a:xfrm>
            <a:off x="2554606" y="1328170"/>
            <a:ext cx="4287628" cy="5168900"/>
          </a:xfrm>
          <a:prstGeom prst="rect">
            <a:avLst/>
          </a:prstGeom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0E161CE-7933-6042-9C40-6BA561F07790}"/>
              </a:ext>
            </a:extLst>
          </p:cNvPr>
          <p:cNvCxnSpPr>
            <a:cxnSpLocks/>
          </p:cNvCxnSpPr>
          <p:nvPr/>
        </p:nvCxnSpPr>
        <p:spPr>
          <a:xfrm flipH="1">
            <a:off x="5076378" y="956116"/>
            <a:ext cx="917614" cy="681592"/>
          </a:xfrm>
          <a:prstGeom prst="straightConnector1">
            <a:avLst/>
          </a:prstGeom>
          <a:ln w="50800">
            <a:solidFill>
              <a:srgbClr val="9D171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0B25D62-A10E-3640-9136-8769649C31A6}"/>
              </a:ext>
            </a:extLst>
          </p:cNvPr>
          <p:cNvCxnSpPr>
            <a:cxnSpLocks/>
          </p:cNvCxnSpPr>
          <p:nvPr/>
        </p:nvCxnSpPr>
        <p:spPr>
          <a:xfrm flipH="1">
            <a:off x="4521591" y="861385"/>
            <a:ext cx="13837" cy="802088"/>
          </a:xfrm>
          <a:prstGeom prst="straightConnector1">
            <a:avLst/>
          </a:prstGeom>
          <a:ln w="50800">
            <a:solidFill>
              <a:srgbClr val="9D171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14A91872-902C-4240-AD62-B276C87E9580}"/>
              </a:ext>
            </a:extLst>
          </p:cNvPr>
          <p:cNvCxnSpPr>
            <a:cxnSpLocks/>
          </p:cNvCxnSpPr>
          <p:nvPr/>
        </p:nvCxnSpPr>
        <p:spPr>
          <a:xfrm>
            <a:off x="3241138" y="939682"/>
            <a:ext cx="831024" cy="711653"/>
          </a:xfrm>
          <a:prstGeom prst="straightConnector1">
            <a:avLst/>
          </a:prstGeom>
          <a:ln w="50800">
            <a:solidFill>
              <a:srgbClr val="9D171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E176F171-37AD-AE4C-8BFA-F5982934390B}"/>
              </a:ext>
            </a:extLst>
          </p:cNvPr>
          <p:cNvSpPr txBox="1"/>
          <p:nvPr/>
        </p:nvSpPr>
        <p:spPr>
          <a:xfrm>
            <a:off x="3264694" y="1687310"/>
            <a:ext cx="2867452" cy="646331"/>
          </a:xfrm>
          <a:prstGeom prst="rect">
            <a:avLst/>
          </a:prstGeom>
          <a:solidFill>
            <a:srgbClr val="FFFDEE"/>
          </a:solidFill>
          <a:ln w="19050">
            <a:solidFill>
              <a:srgbClr val="9D171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Compressed Netcdf4 Output</a:t>
            </a:r>
          </a:p>
          <a:p>
            <a:pPr algn="ctr"/>
            <a:r>
              <a:rPr lang="en-US" dirty="0"/>
              <a:t>Saved in Annual Tar Files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51EA293-929D-F944-AF01-3691F75E4A44}"/>
              </a:ext>
            </a:extLst>
          </p:cNvPr>
          <p:cNvSpPr txBox="1"/>
          <p:nvPr/>
        </p:nvSpPr>
        <p:spPr>
          <a:xfrm>
            <a:off x="4956638" y="4042495"/>
            <a:ext cx="4040261" cy="2062103"/>
          </a:xfrm>
          <a:prstGeom prst="rect">
            <a:avLst/>
          </a:prstGeom>
          <a:solidFill>
            <a:srgbClr val="FFFDEE"/>
          </a:solidFill>
          <a:ln w="19050">
            <a:solidFill>
              <a:srgbClr val="9E160D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9E160D"/>
                </a:solidFill>
              </a:rPr>
              <a:t>▸Version 2:</a:t>
            </a:r>
            <a:endParaRPr lang="en-US" sz="2000" dirty="0"/>
          </a:p>
          <a:p>
            <a:r>
              <a:rPr lang="en-US" dirty="0"/>
              <a:t>   </a:t>
            </a:r>
            <a:r>
              <a:rPr lang="en-US" dirty="0">
                <a:solidFill>
                  <a:srgbClr val="9E160D"/>
                </a:solidFill>
                <a:sym typeface="Wingdings" pitchFamily="2" charset="2"/>
              </a:rPr>
              <a:t></a:t>
            </a:r>
            <a:r>
              <a:rPr lang="en-US" dirty="0">
                <a:sym typeface="Wingdings" pitchFamily="2" charset="2"/>
              </a:rPr>
              <a:t> Balance solely from ‘equilibrium’     </a:t>
            </a:r>
          </a:p>
          <a:p>
            <a:r>
              <a:rPr lang="en-US" dirty="0">
                <a:sym typeface="Wingdings" pitchFamily="2" charset="2"/>
              </a:rPr>
              <a:t>         pools in 1998</a:t>
            </a:r>
          </a:p>
          <a:p>
            <a:r>
              <a:rPr lang="en-US" dirty="0"/>
              <a:t>   </a:t>
            </a:r>
            <a:r>
              <a:rPr lang="en-US" dirty="0">
                <a:solidFill>
                  <a:srgbClr val="9E160D"/>
                </a:solidFill>
                <a:sym typeface="Wingdings" pitchFamily="2" charset="2"/>
              </a:rPr>
              <a:t></a:t>
            </a:r>
            <a:r>
              <a:rPr lang="en-US" dirty="0">
                <a:sym typeface="Wingdings" pitchFamily="2" charset="2"/>
              </a:rPr>
              <a:t> Crop harvest transferred entirely to </a:t>
            </a:r>
          </a:p>
          <a:p>
            <a:r>
              <a:rPr lang="en-US" dirty="0">
                <a:sym typeface="Wingdings" pitchFamily="2" charset="2"/>
              </a:rPr>
              <a:t>         dead carbon pools</a:t>
            </a:r>
          </a:p>
          <a:p>
            <a:r>
              <a:rPr lang="en-US" dirty="0"/>
              <a:t>   </a:t>
            </a:r>
            <a:r>
              <a:rPr lang="en-US" dirty="0">
                <a:solidFill>
                  <a:srgbClr val="9E160D"/>
                </a:solidFill>
                <a:sym typeface="Wingdings" pitchFamily="2" charset="2"/>
              </a:rPr>
              <a:t> </a:t>
            </a:r>
            <a:r>
              <a:rPr lang="en-US" dirty="0">
                <a:sym typeface="Wingdings" pitchFamily="2" charset="2"/>
              </a:rPr>
              <a:t>GFED4.1 fire emissions removed </a:t>
            </a:r>
          </a:p>
          <a:p>
            <a:r>
              <a:rPr lang="en-US" dirty="0">
                <a:sym typeface="Wingdings" pitchFamily="2" charset="2"/>
              </a:rPr>
              <a:t>         from carbon pools during run</a:t>
            </a:r>
            <a:endParaRPr lang="en-US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9D1BCC8-55BB-5140-9404-31F030039079}"/>
              </a:ext>
            </a:extLst>
          </p:cNvPr>
          <p:cNvSpPr txBox="1"/>
          <p:nvPr/>
        </p:nvSpPr>
        <p:spPr>
          <a:xfrm>
            <a:off x="147101" y="3858780"/>
            <a:ext cx="4646292" cy="2616101"/>
          </a:xfrm>
          <a:prstGeom prst="rect">
            <a:avLst/>
          </a:prstGeom>
          <a:solidFill>
            <a:srgbClr val="FFFDEE"/>
          </a:solidFill>
          <a:ln w="19050">
            <a:solidFill>
              <a:srgbClr val="9E160D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9E160D"/>
                </a:solidFill>
              </a:rPr>
              <a:t>▸Version 1:</a:t>
            </a:r>
            <a:endParaRPr lang="en-US" sz="2000" dirty="0"/>
          </a:p>
          <a:p>
            <a:r>
              <a:rPr lang="en-US" dirty="0"/>
              <a:t>    </a:t>
            </a:r>
            <a:r>
              <a:rPr lang="en-US" dirty="0">
                <a:solidFill>
                  <a:srgbClr val="9E160D"/>
                </a:solidFill>
                <a:sym typeface="Wingdings" pitchFamily="2" charset="2"/>
              </a:rPr>
              <a:t></a:t>
            </a:r>
            <a:r>
              <a:rPr lang="en-US" dirty="0">
                <a:sym typeface="Wingdings" pitchFamily="2" charset="2"/>
              </a:rPr>
              <a:t> </a:t>
            </a:r>
            <a:r>
              <a:rPr lang="en-US" dirty="0"/>
              <a:t>21-Year Post-Balanced Fluxes</a:t>
            </a:r>
          </a:p>
          <a:p>
            <a:r>
              <a:rPr lang="en-US" dirty="0"/>
              <a:t>          NEE = 0; GPP = ‘</a:t>
            </a:r>
            <a:r>
              <a:rPr lang="en-US" dirty="0" err="1"/>
              <a:t>Assim</a:t>
            </a:r>
            <a:r>
              <a:rPr lang="en-US" dirty="0"/>
              <a:t>’; RE=‘</a:t>
            </a:r>
            <a:r>
              <a:rPr lang="en-US" dirty="0" err="1"/>
              <a:t>Resp_Bal</a:t>
            </a:r>
            <a:r>
              <a:rPr lang="en-US" dirty="0"/>
              <a:t>’</a:t>
            </a:r>
          </a:p>
          <a:p>
            <a:r>
              <a:rPr lang="en-US" dirty="0"/>
              <a:t>    </a:t>
            </a:r>
            <a:r>
              <a:rPr lang="en-US" dirty="0">
                <a:solidFill>
                  <a:srgbClr val="9E160D"/>
                </a:solidFill>
                <a:sym typeface="Wingdings" pitchFamily="2" charset="2"/>
              </a:rPr>
              <a:t></a:t>
            </a:r>
            <a:r>
              <a:rPr lang="en-US" dirty="0">
                <a:sym typeface="Wingdings" pitchFamily="2" charset="2"/>
              </a:rPr>
              <a:t> 21-Year Post-</a:t>
            </a:r>
            <a:r>
              <a:rPr lang="en-US" dirty="0"/>
              <a:t>Balanced Crop Harvest Loss</a:t>
            </a:r>
          </a:p>
          <a:p>
            <a:r>
              <a:rPr lang="en-US" dirty="0"/>
              <a:t>      </a:t>
            </a:r>
            <a:r>
              <a:rPr lang="en-US" dirty="0">
                <a:solidFill>
                  <a:srgbClr val="9E160D"/>
                </a:solidFill>
              </a:rPr>
              <a:t>▹</a:t>
            </a:r>
            <a:r>
              <a:rPr lang="en-US" dirty="0"/>
              <a:t>Constant respiration ‘</a:t>
            </a:r>
            <a:r>
              <a:rPr lang="en-US" dirty="0" err="1"/>
              <a:t>Resp_Crop</a:t>
            </a:r>
            <a:r>
              <a:rPr lang="en-US" dirty="0"/>
              <a:t>’</a:t>
            </a:r>
          </a:p>
          <a:p>
            <a:r>
              <a:rPr lang="en-US" dirty="0"/>
              <a:t>      </a:t>
            </a:r>
            <a:r>
              <a:rPr lang="en-US" dirty="0">
                <a:solidFill>
                  <a:srgbClr val="9E160D"/>
                </a:solidFill>
              </a:rPr>
              <a:t>▹</a:t>
            </a:r>
            <a:r>
              <a:rPr lang="en-US" dirty="0"/>
              <a:t>Human/Livestock Population</a:t>
            </a:r>
          </a:p>
          <a:p>
            <a:r>
              <a:rPr lang="en-US" dirty="0"/>
              <a:t>    </a:t>
            </a:r>
            <a:r>
              <a:rPr lang="en-US" dirty="0">
                <a:solidFill>
                  <a:srgbClr val="9E160D"/>
                </a:solidFill>
                <a:sym typeface="Wingdings" pitchFamily="2" charset="2"/>
              </a:rPr>
              <a:t></a:t>
            </a:r>
            <a:r>
              <a:rPr lang="en-US" dirty="0">
                <a:sym typeface="Wingdings" pitchFamily="2" charset="2"/>
              </a:rPr>
              <a:t> Post-Processed Fire Emissions</a:t>
            </a:r>
            <a:endParaRPr lang="en-US" dirty="0"/>
          </a:p>
          <a:p>
            <a:r>
              <a:rPr lang="en-US" dirty="0"/>
              <a:t>      </a:t>
            </a:r>
            <a:r>
              <a:rPr lang="en-US" dirty="0">
                <a:solidFill>
                  <a:srgbClr val="9E160D"/>
                </a:solidFill>
              </a:rPr>
              <a:t>▹</a:t>
            </a:r>
            <a:r>
              <a:rPr lang="en-US" dirty="0"/>
              <a:t>Fire emissions removed from 2003-2018</a:t>
            </a:r>
          </a:p>
          <a:p>
            <a:r>
              <a:rPr lang="en-US" dirty="0">
                <a:solidFill>
                  <a:srgbClr val="9E160D"/>
                </a:solidFill>
              </a:rPr>
              <a:t>      ▹</a:t>
            </a:r>
            <a:r>
              <a:rPr lang="en-US" dirty="0"/>
              <a:t>Global Fire Emissions Database (GFED4.1)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4FDC86E-3FF8-8F4D-9325-E440261641F9}"/>
              </a:ext>
            </a:extLst>
          </p:cNvPr>
          <p:cNvSpPr txBox="1"/>
          <p:nvPr/>
        </p:nvSpPr>
        <p:spPr>
          <a:xfrm>
            <a:off x="1768419" y="2545085"/>
            <a:ext cx="5860002" cy="1077218"/>
          </a:xfrm>
          <a:prstGeom prst="rect">
            <a:avLst/>
          </a:prstGeom>
          <a:solidFill>
            <a:srgbClr val="FFFDEE"/>
          </a:solidFill>
          <a:ln w="19050">
            <a:solidFill>
              <a:srgbClr val="9E160D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solidFill>
                  <a:srgbClr val="9E160D"/>
                </a:solidFill>
              </a:rPr>
              <a:t>1998-2018</a:t>
            </a:r>
            <a:endParaRPr lang="en-US" sz="2400" dirty="0">
              <a:solidFill>
                <a:srgbClr val="9E160D"/>
              </a:solidFill>
            </a:endParaRPr>
          </a:p>
          <a:p>
            <a:r>
              <a:rPr lang="en-US" sz="2000" dirty="0">
                <a:solidFill>
                  <a:srgbClr val="9E160D"/>
                </a:solidFill>
              </a:rPr>
              <a:t>▸</a:t>
            </a:r>
            <a:r>
              <a:rPr lang="en-US" sz="2000" dirty="0"/>
              <a:t>Pools in Equilibrium per PFT per Grid Cell ≈ Balanced</a:t>
            </a:r>
          </a:p>
          <a:p>
            <a:r>
              <a:rPr lang="en-US" sz="2000" dirty="0">
                <a:solidFill>
                  <a:srgbClr val="9E160D"/>
                </a:solidFill>
              </a:rPr>
              <a:t>▸</a:t>
            </a:r>
            <a:r>
              <a:rPr lang="en-US" sz="2000" dirty="0"/>
              <a:t>Interannual Variability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F13DF0BB-79D5-C84B-ABE7-06751274B0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7101" y="240142"/>
            <a:ext cx="2571921" cy="319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69990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3618BB2-AB4E-C940-B929-0EEC99EEBC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9357" t="42969"/>
          <a:stretch/>
        </p:blipFill>
        <p:spPr>
          <a:xfrm>
            <a:off x="0" y="0"/>
            <a:ext cx="1887573" cy="193548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13D9CA4C-7A07-6849-8A5E-6AD6B9584103}"/>
              </a:ext>
            </a:extLst>
          </p:cNvPr>
          <p:cNvSpPr txBox="1"/>
          <p:nvPr/>
        </p:nvSpPr>
        <p:spPr>
          <a:xfrm>
            <a:off x="4029488" y="5566665"/>
            <a:ext cx="2529346" cy="1200329"/>
          </a:xfrm>
          <a:prstGeom prst="rect">
            <a:avLst/>
          </a:prstGeom>
          <a:solidFill>
            <a:srgbClr val="FFFDEE"/>
          </a:solidFill>
          <a:ln w="19050">
            <a:solidFill>
              <a:srgbClr val="9E160D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rgbClr val="9D1711"/>
                </a:solidFill>
              </a:rPr>
              <a:t>▸</a:t>
            </a:r>
            <a:r>
              <a:rPr lang="en-US" dirty="0"/>
              <a:t>CO</a:t>
            </a:r>
            <a:r>
              <a:rPr lang="en-US" baseline="-25000" dirty="0"/>
              <a:t>2</a:t>
            </a:r>
            <a:r>
              <a:rPr lang="en-US" dirty="0"/>
              <a:t> Fertilization</a:t>
            </a:r>
          </a:p>
          <a:p>
            <a:pPr algn="ctr"/>
            <a:r>
              <a:rPr lang="en-US" dirty="0">
                <a:solidFill>
                  <a:srgbClr val="9D1711"/>
                </a:solidFill>
              </a:rPr>
              <a:t>▸</a:t>
            </a:r>
            <a:r>
              <a:rPr lang="en-US" dirty="0"/>
              <a:t>N Fertilization</a:t>
            </a:r>
          </a:p>
          <a:p>
            <a:pPr algn="ctr"/>
            <a:r>
              <a:rPr lang="en-US" dirty="0">
                <a:solidFill>
                  <a:srgbClr val="9D1711"/>
                </a:solidFill>
              </a:rPr>
              <a:t>▸</a:t>
            </a:r>
            <a:r>
              <a:rPr lang="en-US" dirty="0"/>
              <a:t>Boreal Forest Warming</a:t>
            </a:r>
          </a:p>
          <a:p>
            <a:pPr algn="ctr"/>
            <a:r>
              <a:rPr lang="en-US" dirty="0">
                <a:solidFill>
                  <a:srgbClr val="9D1711"/>
                </a:solidFill>
              </a:rPr>
              <a:t>▸</a:t>
            </a:r>
            <a:r>
              <a:rPr lang="en-US" dirty="0"/>
              <a:t> Forest Regrowth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6B2E498-F981-0549-827E-376AAB26A0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4346" y="852841"/>
            <a:ext cx="7315200" cy="4572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FF66DF2-C877-854A-B181-D8FCC50757C6}"/>
              </a:ext>
            </a:extLst>
          </p:cNvPr>
          <p:cNvSpPr txBox="1"/>
          <p:nvPr/>
        </p:nvSpPr>
        <p:spPr>
          <a:xfrm>
            <a:off x="3557222" y="1075573"/>
            <a:ext cx="2922595" cy="4001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2000" b="1" dirty="0"/>
              <a:t>Annual Sink (µ</a:t>
            </a:r>
            <a:r>
              <a:rPr lang="en-US" sz="2000" b="1" dirty="0" err="1"/>
              <a:t>mol</a:t>
            </a:r>
            <a:r>
              <a:rPr lang="en-US" sz="2000" b="1" dirty="0"/>
              <a:t> m</a:t>
            </a:r>
            <a:r>
              <a:rPr lang="en-US" sz="2000" b="1" baseline="30000" dirty="0"/>
              <a:t>-2</a:t>
            </a:r>
            <a:r>
              <a:rPr lang="en-US" sz="2000" b="1" dirty="0"/>
              <a:t> s</a:t>
            </a:r>
            <a:r>
              <a:rPr lang="en-US" sz="2000" b="1" baseline="30000" dirty="0"/>
              <a:t>-1</a:t>
            </a:r>
            <a:r>
              <a:rPr lang="en-US" sz="2000" b="1" dirty="0"/>
              <a:t>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C037244-CCE4-E145-913B-3D5A4BFC4310}"/>
              </a:ext>
            </a:extLst>
          </p:cNvPr>
          <p:cNvSpPr txBox="1"/>
          <p:nvPr/>
        </p:nvSpPr>
        <p:spPr>
          <a:xfrm>
            <a:off x="6560536" y="5040269"/>
            <a:ext cx="22223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3.3 Gt C Sink Per Year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C01DC13-1FF2-0E4B-9B6B-7EAF9336D3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05862" y="261686"/>
            <a:ext cx="2650392" cy="32946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F45421F-783B-4545-8154-E45712F13F6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4452" y="261686"/>
            <a:ext cx="1603718" cy="329184"/>
          </a:xfrm>
          <a:prstGeom prst="rect">
            <a:avLst/>
          </a:prstGeom>
        </p:spPr>
      </p:pic>
      <p:sp>
        <p:nvSpPr>
          <p:cNvPr id="16" name="Donut 15">
            <a:extLst>
              <a:ext uri="{FF2B5EF4-FFF2-40B4-BE49-F238E27FC236}">
                <a16:creationId xmlns:a16="http://schemas.microsoft.com/office/drawing/2014/main" id="{C688648E-1298-3A46-A8F8-BA912E743AAC}"/>
              </a:ext>
            </a:extLst>
          </p:cNvPr>
          <p:cNvSpPr/>
          <p:nvPr/>
        </p:nvSpPr>
        <p:spPr>
          <a:xfrm>
            <a:off x="5586432" y="202314"/>
            <a:ext cx="893385" cy="411404"/>
          </a:xfrm>
          <a:prstGeom prst="donut">
            <a:avLst>
              <a:gd name="adj" fmla="val 5697"/>
            </a:avLst>
          </a:prstGeom>
          <a:solidFill>
            <a:srgbClr val="9D1711"/>
          </a:solidFill>
          <a:ln>
            <a:solidFill>
              <a:srgbClr val="9D171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06898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TextBox 73">
            <a:extLst>
              <a:ext uri="{FF2B5EF4-FFF2-40B4-BE49-F238E27FC236}">
                <a16:creationId xmlns:a16="http://schemas.microsoft.com/office/drawing/2014/main" id="{E5732257-6F61-F64C-A523-B283EF3F0B3C}"/>
              </a:ext>
            </a:extLst>
          </p:cNvPr>
          <p:cNvSpPr txBox="1"/>
          <p:nvPr/>
        </p:nvSpPr>
        <p:spPr>
          <a:xfrm>
            <a:off x="9109169" y="291301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75" name="Picture 74">
            <a:extLst>
              <a:ext uri="{FF2B5EF4-FFF2-40B4-BE49-F238E27FC236}">
                <a16:creationId xmlns:a16="http://schemas.microsoft.com/office/drawing/2014/main" id="{C4BE488F-DA43-B74B-9D25-FBA8BD336A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8000"/>
            <a:ext cx="9144000" cy="5142000"/>
          </a:xfrm>
          <a:prstGeom prst="rect">
            <a:avLst/>
          </a:prstGeom>
        </p:spPr>
      </p:pic>
      <p:sp>
        <p:nvSpPr>
          <p:cNvPr id="76" name="TextBox 75">
            <a:extLst>
              <a:ext uri="{FF2B5EF4-FFF2-40B4-BE49-F238E27FC236}">
                <a16:creationId xmlns:a16="http://schemas.microsoft.com/office/drawing/2014/main" id="{7471D602-6ADD-0848-8977-192A94D2A9E2}"/>
              </a:ext>
            </a:extLst>
          </p:cNvPr>
          <p:cNvSpPr txBox="1"/>
          <p:nvPr/>
        </p:nvSpPr>
        <p:spPr>
          <a:xfrm>
            <a:off x="1212725" y="2412917"/>
            <a:ext cx="7261924" cy="954107"/>
          </a:xfrm>
          <a:prstGeom prst="rect">
            <a:avLst/>
          </a:prstGeom>
          <a:solidFill>
            <a:srgbClr val="FFFDF1">
              <a:alpha val="90000"/>
            </a:srgbClr>
          </a:solidFill>
          <a:ln w="38100">
            <a:solidFill>
              <a:srgbClr val="9E160D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latin typeface="Helvetica"/>
                <a:cs typeface="Helvetica"/>
              </a:rPr>
              <a:t>Code, Tools, Visualization on GitLab</a:t>
            </a:r>
          </a:p>
          <a:p>
            <a:pPr algn="ctr"/>
            <a:r>
              <a:rPr lang="en-US" sz="2800" dirty="0">
                <a:solidFill>
                  <a:srgbClr val="C00000"/>
                </a:solidFill>
                <a:latin typeface="Helvetica"/>
                <a:cs typeface="Helvetica"/>
                <a:hlinkClick r:id="rId3"/>
              </a:rPr>
              <a:t>https://gitlab.com/kdhaynes/sib4v2_corral.git</a:t>
            </a:r>
            <a:endParaRPr lang="en-US" sz="2800" dirty="0">
              <a:solidFill>
                <a:srgbClr val="C00000"/>
              </a:solidFill>
              <a:latin typeface="Helvetica"/>
              <a:cs typeface="Helvetica"/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043B4405-CBE4-C246-86A1-8ED31FEB353F}"/>
              </a:ext>
            </a:extLst>
          </p:cNvPr>
          <p:cNvSpPr/>
          <p:nvPr/>
        </p:nvSpPr>
        <p:spPr>
          <a:xfrm>
            <a:off x="0" y="6107643"/>
            <a:ext cx="9144000" cy="742885"/>
          </a:xfrm>
          <a:prstGeom prst="rect">
            <a:avLst/>
          </a:prstGeom>
          <a:solidFill>
            <a:srgbClr val="E1DBB4"/>
          </a:solidFill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solidFill>
                <a:schemeClr val="accent3">
                  <a:lumMod val="50000"/>
                </a:schemeClr>
              </a:solidFill>
            </a:endParaRPr>
          </a:p>
        </p:txBody>
      </p:sp>
      <p:pic>
        <p:nvPicPr>
          <p:cNvPr id="78" name="Picture 77" descr="grass-clipart-9cRBx69ce.png">
            <a:extLst>
              <a:ext uri="{FF2B5EF4-FFF2-40B4-BE49-F238E27FC236}">
                <a16:creationId xmlns:a16="http://schemas.microsoft.com/office/drawing/2014/main" id="{EA2C7F77-2BC6-9545-B0EC-495FD892AF6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6370" y="5870970"/>
            <a:ext cx="983715" cy="896820"/>
          </a:xfrm>
          <a:prstGeom prst="rect">
            <a:avLst/>
          </a:prstGeom>
        </p:spPr>
      </p:pic>
      <p:pic>
        <p:nvPicPr>
          <p:cNvPr id="79" name="Picture 78" descr="grass-clipart-9cRBx69ce.png">
            <a:extLst>
              <a:ext uri="{FF2B5EF4-FFF2-40B4-BE49-F238E27FC236}">
                <a16:creationId xmlns:a16="http://schemas.microsoft.com/office/drawing/2014/main" id="{847D4F38-9206-A946-99CC-879E20EFD0E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8227" y="5668503"/>
            <a:ext cx="1250049" cy="1139628"/>
          </a:xfrm>
          <a:prstGeom prst="rect">
            <a:avLst/>
          </a:prstGeom>
        </p:spPr>
      </p:pic>
      <p:pic>
        <p:nvPicPr>
          <p:cNvPr id="80" name="Picture 79" descr="grass-clipart-9cRBx69ce.png">
            <a:extLst>
              <a:ext uri="{FF2B5EF4-FFF2-40B4-BE49-F238E27FC236}">
                <a16:creationId xmlns:a16="http://schemas.microsoft.com/office/drawing/2014/main" id="{DD52F664-2770-1E4D-AF9C-1BEE46A1A68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5007" y="5135864"/>
            <a:ext cx="1819547" cy="1658820"/>
          </a:xfrm>
          <a:prstGeom prst="rect">
            <a:avLst/>
          </a:prstGeom>
        </p:spPr>
      </p:pic>
      <p:pic>
        <p:nvPicPr>
          <p:cNvPr id="81" name="Picture 80" descr="grass-clipart-9cRBx69ce.png">
            <a:extLst>
              <a:ext uri="{FF2B5EF4-FFF2-40B4-BE49-F238E27FC236}">
                <a16:creationId xmlns:a16="http://schemas.microsoft.com/office/drawing/2014/main" id="{0DE51D7E-5696-4443-AA0A-8AF73F00C2D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8705" y="4262163"/>
            <a:ext cx="2752559" cy="2509416"/>
          </a:xfrm>
          <a:prstGeom prst="rect">
            <a:avLst/>
          </a:prstGeom>
        </p:spPr>
      </p:pic>
      <p:pic>
        <p:nvPicPr>
          <p:cNvPr id="82" name="Picture 81" descr="grass-clipart-9cRBx69ce.png">
            <a:extLst>
              <a:ext uri="{FF2B5EF4-FFF2-40B4-BE49-F238E27FC236}">
                <a16:creationId xmlns:a16="http://schemas.microsoft.com/office/drawing/2014/main" id="{E420E868-3E36-144C-95DC-84A90E7CA7A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5140" y="4301638"/>
            <a:ext cx="2752559" cy="2509416"/>
          </a:xfrm>
          <a:prstGeom prst="rect">
            <a:avLst/>
          </a:prstGeom>
        </p:spPr>
      </p:pic>
      <p:pic>
        <p:nvPicPr>
          <p:cNvPr id="83" name="Picture 82" descr="grass-clipart-9cRBx69ce.png">
            <a:extLst>
              <a:ext uri="{FF2B5EF4-FFF2-40B4-BE49-F238E27FC236}">
                <a16:creationId xmlns:a16="http://schemas.microsoft.com/office/drawing/2014/main" id="{D6A90BDA-660D-ED4D-87A5-A2F97BF5226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2827" y="4552408"/>
            <a:ext cx="2446834" cy="2230697"/>
          </a:xfrm>
          <a:prstGeom prst="rect">
            <a:avLst/>
          </a:prstGeom>
        </p:spPr>
      </p:pic>
      <p:pic>
        <p:nvPicPr>
          <p:cNvPr id="84" name="Picture 83" descr="grass-clipart-9cRBx69ce.png">
            <a:extLst>
              <a:ext uri="{FF2B5EF4-FFF2-40B4-BE49-F238E27FC236}">
                <a16:creationId xmlns:a16="http://schemas.microsoft.com/office/drawing/2014/main" id="{782DEFC7-3433-5A4E-8387-FC3AF710A19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130" y="6286403"/>
            <a:ext cx="546572" cy="498291"/>
          </a:xfrm>
          <a:prstGeom prst="rect">
            <a:avLst/>
          </a:prstGeom>
        </p:spPr>
      </p:pic>
      <p:pic>
        <p:nvPicPr>
          <p:cNvPr id="85" name="Picture 84" descr="Clipart-sun-1.png">
            <a:extLst>
              <a:ext uri="{FF2B5EF4-FFF2-40B4-BE49-F238E27FC236}">
                <a16:creationId xmlns:a16="http://schemas.microsoft.com/office/drawing/2014/main" id="{A3BA0E02-2FFA-C544-B794-90B10E2D175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7157" y="65980"/>
            <a:ext cx="1417034" cy="1412310"/>
          </a:xfrm>
          <a:prstGeom prst="rect">
            <a:avLst/>
          </a:prstGeom>
        </p:spPr>
      </p:pic>
      <p:pic>
        <p:nvPicPr>
          <p:cNvPr id="86" name="Picture 85" descr="cloud-clip-art-4cbKy4Eki.png">
            <a:extLst>
              <a:ext uri="{FF2B5EF4-FFF2-40B4-BE49-F238E27FC236}">
                <a16:creationId xmlns:a16="http://schemas.microsoft.com/office/drawing/2014/main" id="{ACB9EA6E-7945-9345-A6C9-FC3BC53BF57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544" y="554646"/>
            <a:ext cx="1835373" cy="967291"/>
          </a:xfrm>
          <a:prstGeom prst="rect">
            <a:avLst/>
          </a:prstGeom>
        </p:spPr>
      </p:pic>
      <p:pic>
        <p:nvPicPr>
          <p:cNvPr id="87" name="Picture 86" descr="cloud-clip-art-4cbKy4Eki.png">
            <a:extLst>
              <a:ext uri="{FF2B5EF4-FFF2-40B4-BE49-F238E27FC236}">
                <a16:creationId xmlns:a16="http://schemas.microsoft.com/office/drawing/2014/main" id="{E8355C39-E233-1A49-B036-437182C32C0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660" y="366222"/>
            <a:ext cx="1835373" cy="967291"/>
          </a:xfrm>
          <a:prstGeom prst="rect">
            <a:avLst/>
          </a:prstGeom>
        </p:spPr>
      </p:pic>
      <p:pic>
        <p:nvPicPr>
          <p:cNvPr id="88" name="Picture 87" descr="cloud-clip-art-outline.png">
            <a:extLst>
              <a:ext uri="{FF2B5EF4-FFF2-40B4-BE49-F238E27FC236}">
                <a16:creationId xmlns:a16="http://schemas.microsoft.com/office/drawing/2014/main" id="{E32FD387-B6D3-5840-854A-B37EBA88659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828" y="121315"/>
            <a:ext cx="2118946" cy="1115978"/>
          </a:xfrm>
          <a:prstGeom prst="rect">
            <a:avLst/>
          </a:prstGeom>
        </p:spPr>
      </p:pic>
      <p:sp>
        <p:nvSpPr>
          <p:cNvPr id="89" name="TextBox 88">
            <a:extLst>
              <a:ext uri="{FF2B5EF4-FFF2-40B4-BE49-F238E27FC236}">
                <a16:creationId xmlns:a16="http://schemas.microsoft.com/office/drawing/2014/main" id="{7DE3BF94-245A-F740-87BF-24023606E2F4}"/>
              </a:ext>
            </a:extLst>
          </p:cNvPr>
          <p:cNvSpPr txBox="1"/>
          <p:nvPr/>
        </p:nvSpPr>
        <p:spPr>
          <a:xfrm>
            <a:off x="2352516" y="248728"/>
            <a:ext cx="4943982" cy="1077218"/>
          </a:xfrm>
          <a:prstGeom prst="rect">
            <a:avLst/>
          </a:prstGeom>
          <a:solidFill>
            <a:srgbClr val="FFFDF0"/>
          </a:solidFill>
          <a:ln w="50800">
            <a:solidFill>
              <a:srgbClr val="A01300"/>
            </a:solidFill>
          </a:ln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4B3118"/>
                </a:solidFill>
                <a:latin typeface="Helvetica"/>
                <a:cs typeface="Helvetica"/>
              </a:rPr>
              <a:t>Simple Biosphere Model</a:t>
            </a:r>
          </a:p>
          <a:p>
            <a:pPr algn="ctr"/>
            <a:r>
              <a:rPr lang="en-US" sz="3200" b="1" dirty="0">
                <a:solidFill>
                  <a:srgbClr val="4B3118"/>
                </a:solidFill>
                <a:latin typeface="Helvetica"/>
                <a:cs typeface="Helvetica"/>
              </a:rPr>
              <a:t>SiB4</a:t>
            </a:r>
          </a:p>
        </p:txBody>
      </p:sp>
      <p:pic>
        <p:nvPicPr>
          <p:cNvPr id="90" name="Picture 89">
            <a:extLst>
              <a:ext uri="{FF2B5EF4-FFF2-40B4-BE49-F238E27FC236}">
                <a16:creationId xmlns:a16="http://schemas.microsoft.com/office/drawing/2014/main" id="{125290DE-262A-AA48-9398-FF4DABE0102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10447" y="6404012"/>
            <a:ext cx="322793" cy="430391"/>
          </a:xfrm>
          <a:prstGeom prst="rect">
            <a:avLst/>
          </a:prstGeom>
        </p:spPr>
      </p:pic>
      <p:pic>
        <p:nvPicPr>
          <p:cNvPr id="91" name="Picture 90">
            <a:extLst>
              <a:ext uri="{FF2B5EF4-FFF2-40B4-BE49-F238E27FC236}">
                <a16:creationId xmlns:a16="http://schemas.microsoft.com/office/drawing/2014/main" id="{D4CEDE95-F973-1A49-A59A-988130AE487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0992" y="6267737"/>
            <a:ext cx="437093" cy="582791"/>
          </a:xfrm>
          <a:prstGeom prst="rect">
            <a:avLst/>
          </a:prstGeom>
        </p:spPr>
      </p:pic>
      <p:pic>
        <p:nvPicPr>
          <p:cNvPr id="92" name="Picture 91">
            <a:extLst>
              <a:ext uri="{FF2B5EF4-FFF2-40B4-BE49-F238E27FC236}">
                <a16:creationId xmlns:a16="http://schemas.microsoft.com/office/drawing/2014/main" id="{BACBD972-DD13-AC40-9611-7C395B71722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2808" y="6583089"/>
            <a:ext cx="200579" cy="267439"/>
          </a:xfrm>
          <a:prstGeom prst="rect">
            <a:avLst/>
          </a:prstGeom>
        </p:spPr>
      </p:pic>
      <p:pic>
        <p:nvPicPr>
          <p:cNvPr id="93" name="Picture 92" descr="grass-clipart-9cRBx69ce.png">
            <a:extLst>
              <a:ext uri="{FF2B5EF4-FFF2-40B4-BE49-F238E27FC236}">
                <a16:creationId xmlns:a16="http://schemas.microsoft.com/office/drawing/2014/main" id="{F3233BFD-A0FC-EC47-B110-E417165932A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295" y="6629882"/>
            <a:ext cx="220081" cy="200641"/>
          </a:xfrm>
          <a:prstGeom prst="rect">
            <a:avLst/>
          </a:prstGeom>
        </p:spPr>
      </p:pic>
      <p:pic>
        <p:nvPicPr>
          <p:cNvPr id="94" name="Picture 93">
            <a:extLst>
              <a:ext uri="{FF2B5EF4-FFF2-40B4-BE49-F238E27FC236}">
                <a16:creationId xmlns:a16="http://schemas.microsoft.com/office/drawing/2014/main" id="{F01E0ABF-FFAA-F943-BD85-1A5DF465B36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6893" y="6593269"/>
            <a:ext cx="180850" cy="241134"/>
          </a:xfrm>
          <a:prstGeom prst="rect">
            <a:avLst/>
          </a:prstGeom>
        </p:spPr>
      </p:pic>
      <p:pic>
        <p:nvPicPr>
          <p:cNvPr id="95" name="Picture 94">
            <a:extLst>
              <a:ext uri="{FF2B5EF4-FFF2-40B4-BE49-F238E27FC236}">
                <a16:creationId xmlns:a16="http://schemas.microsoft.com/office/drawing/2014/main" id="{35430F2E-4246-9941-B529-2E50111E26F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3596" y="6408379"/>
            <a:ext cx="322793" cy="430391"/>
          </a:xfrm>
          <a:prstGeom prst="rect">
            <a:avLst/>
          </a:prstGeom>
        </p:spPr>
      </p:pic>
      <p:pic>
        <p:nvPicPr>
          <p:cNvPr id="96" name="Picture 95" descr="grass-clipart-9cRBx69ce.png">
            <a:extLst>
              <a:ext uri="{FF2B5EF4-FFF2-40B4-BE49-F238E27FC236}">
                <a16:creationId xmlns:a16="http://schemas.microsoft.com/office/drawing/2014/main" id="{A2DD97D0-0D7A-774B-AE83-8373A500B11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27" y="6631757"/>
            <a:ext cx="220081" cy="200641"/>
          </a:xfrm>
          <a:prstGeom prst="rect">
            <a:avLst/>
          </a:prstGeom>
        </p:spPr>
      </p:pic>
      <p:pic>
        <p:nvPicPr>
          <p:cNvPr id="97" name="Picture 96" descr="grass-clipart-9cRBx69ce.png">
            <a:extLst>
              <a:ext uri="{FF2B5EF4-FFF2-40B4-BE49-F238E27FC236}">
                <a16:creationId xmlns:a16="http://schemas.microsoft.com/office/drawing/2014/main" id="{E90CC254-46C7-D54F-91A3-D9907594B81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113" y="6631756"/>
            <a:ext cx="220081" cy="200641"/>
          </a:xfrm>
          <a:prstGeom prst="rect">
            <a:avLst/>
          </a:prstGeom>
        </p:spPr>
      </p:pic>
      <p:pic>
        <p:nvPicPr>
          <p:cNvPr id="99" name="Picture 98">
            <a:extLst>
              <a:ext uri="{FF2B5EF4-FFF2-40B4-BE49-F238E27FC236}">
                <a16:creationId xmlns:a16="http://schemas.microsoft.com/office/drawing/2014/main" id="{E0C0FEB1-3167-0A46-A8BB-D73AE38A770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88039" y="4330559"/>
            <a:ext cx="2020273" cy="2473491"/>
          </a:xfrm>
          <a:prstGeom prst="rect">
            <a:avLst/>
          </a:prstGeom>
        </p:spPr>
      </p:pic>
      <p:pic>
        <p:nvPicPr>
          <p:cNvPr id="100" name="Picture 99">
            <a:extLst>
              <a:ext uri="{FF2B5EF4-FFF2-40B4-BE49-F238E27FC236}">
                <a16:creationId xmlns:a16="http://schemas.microsoft.com/office/drawing/2014/main" id="{71AECF68-3B49-4B4C-8912-78384ED416F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73277" y="5451144"/>
            <a:ext cx="1123994" cy="1376145"/>
          </a:xfrm>
          <a:prstGeom prst="rect">
            <a:avLst/>
          </a:prstGeom>
        </p:spPr>
      </p:pic>
      <p:pic>
        <p:nvPicPr>
          <p:cNvPr id="101" name="Picture 100">
            <a:extLst>
              <a:ext uri="{FF2B5EF4-FFF2-40B4-BE49-F238E27FC236}">
                <a16:creationId xmlns:a16="http://schemas.microsoft.com/office/drawing/2014/main" id="{0FC27064-9389-B743-900F-3BE5EAC2D65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88028" y="5503403"/>
            <a:ext cx="1106394" cy="1354597"/>
          </a:xfrm>
          <a:prstGeom prst="rect">
            <a:avLst/>
          </a:prstGeom>
        </p:spPr>
      </p:pic>
      <p:pic>
        <p:nvPicPr>
          <p:cNvPr id="102" name="Picture 101">
            <a:extLst>
              <a:ext uri="{FF2B5EF4-FFF2-40B4-BE49-F238E27FC236}">
                <a16:creationId xmlns:a16="http://schemas.microsoft.com/office/drawing/2014/main" id="{0BD4D84E-935F-FB41-B68F-2B6CFF51263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89416" y="5807008"/>
            <a:ext cx="861821" cy="1055157"/>
          </a:xfrm>
          <a:prstGeom prst="rect">
            <a:avLst/>
          </a:prstGeom>
        </p:spPr>
      </p:pic>
      <p:pic>
        <p:nvPicPr>
          <p:cNvPr id="103" name="Picture 102">
            <a:extLst>
              <a:ext uri="{FF2B5EF4-FFF2-40B4-BE49-F238E27FC236}">
                <a16:creationId xmlns:a16="http://schemas.microsoft.com/office/drawing/2014/main" id="{161CB5DB-9D25-E541-AA82-F71E67A640E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18900" y="4087906"/>
            <a:ext cx="2262530" cy="2770094"/>
          </a:xfrm>
          <a:prstGeom prst="rect">
            <a:avLst/>
          </a:prstGeom>
        </p:spPr>
      </p:pic>
      <p:pic>
        <p:nvPicPr>
          <p:cNvPr id="104" name="Picture 103">
            <a:extLst>
              <a:ext uri="{FF2B5EF4-FFF2-40B4-BE49-F238E27FC236}">
                <a16:creationId xmlns:a16="http://schemas.microsoft.com/office/drawing/2014/main" id="{92327CCB-B6E1-B342-88DE-7A1BA863A63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89077" y="5140955"/>
            <a:ext cx="1225630" cy="1711656"/>
          </a:xfrm>
          <a:prstGeom prst="rect">
            <a:avLst/>
          </a:prstGeom>
        </p:spPr>
      </p:pic>
      <p:pic>
        <p:nvPicPr>
          <p:cNvPr id="105" name="Picture 104">
            <a:extLst>
              <a:ext uri="{FF2B5EF4-FFF2-40B4-BE49-F238E27FC236}">
                <a16:creationId xmlns:a16="http://schemas.microsoft.com/office/drawing/2014/main" id="{811E4942-C65F-5146-9FA7-8F05E81ADFB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374147" y="3862965"/>
            <a:ext cx="2144593" cy="2995035"/>
          </a:xfrm>
          <a:prstGeom prst="rect">
            <a:avLst/>
          </a:prstGeom>
        </p:spPr>
      </p:pic>
      <p:pic>
        <p:nvPicPr>
          <p:cNvPr id="106" name="Picture 105">
            <a:extLst>
              <a:ext uri="{FF2B5EF4-FFF2-40B4-BE49-F238E27FC236}">
                <a16:creationId xmlns:a16="http://schemas.microsoft.com/office/drawing/2014/main" id="{B8EDFE7C-C19D-E946-8F2B-7E3ECB55894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23964" y="4797610"/>
            <a:ext cx="1676762" cy="2052918"/>
          </a:xfrm>
          <a:prstGeom prst="rect">
            <a:avLst/>
          </a:prstGeom>
        </p:spPr>
      </p:pic>
      <p:pic>
        <p:nvPicPr>
          <p:cNvPr id="107" name="Picture 106">
            <a:extLst>
              <a:ext uri="{FF2B5EF4-FFF2-40B4-BE49-F238E27FC236}">
                <a16:creationId xmlns:a16="http://schemas.microsoft.com/office/drawing/2014/main" id="{0110AC08-3D4E-0C48-8134-12971E78689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24239" y="4584876"/>
            <a:ext cx="1623888" cy="2267844"/>
          </a:xfrm>
          <a:prstGeom prst="rect">
            <a:avLst/>
          </a:prstGeom>
        </p:spPr>
      </p:pic>
      <p:pic>
        <p:nvPicPr>
          <p:cNvPr id="108" name="Picture 107">
            <a:extLst>
              <a:ext uri="{FF2B5EF4-FFF2-40B4-BE49-F238E27FC236}">
                <a16:creationId xmlns:a16="http://schemas.microsoft.com/office/drawing/2014/main" id="{01DD8A53-6053-0741-BF51-F30AF5B4FBE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37119" y="5547131"/>
            <a:ext cx="916656" cy="1280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02888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A563AEC-BFA5-3E48-B1C0-B1337448D2D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0436" r="14373"/>
          <a:stretch/>
        </p:blipFill>
        <p:spPr>
          <a:xfrm>
            <a:off x="1901462" y="161939"/>
            <a:ext cx="5554415" cy="669606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2E753B2-847F-8644-9AB2-4FF350E3017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57479"/>
          <a:stretch/>
        </p:blipFill>
        <p:spPr>
          <a:xfrm>
            <a:off x="883609" y="3429000"/>
            <a:ext cx="7376782" cy="205989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A3E18E7-E775-F243-B729-C842309045E2}"/>
              </a:ext>
            </a:extLst>
          </p:cNvPr>
          <p:cNvSpPr txBox="1"/>
          <p:nvPr/>
        </p:nvSpPr>
        <p:spPr>
          <a:xfrm>
            <a:off x="453337" y="5793881"/>
            <a:ext cx="8450664" cy="769441"/>
          </a:xfrm>
          <a:prstGeom prst="rect">
            <a:avLst/>
          </a:prstGeom>
          <a:solidFill>
            <a:srgbClr val="FFFDEE"/>
          </a:solidFill>
          <a:ln w="19050">
            <a:solidFill>
              <a:srgbClr val="9E160D"/>
            </a:solidFill>
          </a:ln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rgbClr val="9D1711"/>
                </a:solidFill>
              </a:rPr>
              <a:t>▸</a:t>
            </a:r>
            <a:r>
              <a:rPr lang="en-US" sz="2200" dirty="0"/>
              <a:t>Provide us with your GitLab user name to be added to member list</a:t>
            </a:r>
          </a:p>
          <a:p>
            <a:r>
              <a:rPr lang="en-US" sz="2200" dirty="0">
                <a:solidFill>
                  <a:srgbClr val="9D1711"/>
                </a:solidFill>
              </a:rPr>
              <a:t>▸</a:t>
            </a:r>
            <a:r>
              <a:rPr lang="en-US" sz="2200" dirty="0"/>
              <a:t>git clone </a:t>
            </a:r>
            <a:r>
              <a:rPr lang="en-US" sz="2200" dirty="0">
                <a:hlinkClick r:id="rId4"/>
              </a:rPr>
              <a:t>https://&lt;username&gt;@gitlab.com/kdhaynes/sib4v2_corral.git</a:t>
            </a:r>
            <a:endParaRPr lang="en-US" sz="22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ABE3459-B511-1C41-B45A-C51767E3D89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2751" y="188164"/>
            <a:ext cx="3324901" cy="3057451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92E645EC-B7A8-8F4F-B7BB-36144C8005AD}"/>
              </a:ext>
            </a:extLst>
          </p:cNvPr>
          <p:cNvGrpSpPr/>
          <p:nvPr/>
        </p:nvGrpSpPr>
        <p:grpSpPr>
          <a:xfrm>
            <a:off x="7093902" y="415885"/>
            <a:ext cx="1528464" cy="1528464"/>
            <a:chOff x="1393880" y="1143248"/>
            <a:chExt cx="1298448" cy="1298448"/>
          </a:xfrm>
          <a:solidFill>
            <a:srgbClr val="FFF400"/>
          </a:solidFill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4884A2D9-6CC3-1242-9277-095DF7035940}"/>
                </a:ext>
              </a:extLst>
            </p:cNvPr>
            <p:cNvSpPr/>
            <p:nvPr/>
          </p:nvSpPr>
          <p:spPr>
            <a:xfrm>
              <a:off x="1620283" y="1370783"/>
              <a:ext cx="845643" cy="845643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D283F14B-7B78-314F-B9B8-8FC5744A1E25}"/>
                </a:ext>
              </a:extLst>
            </p:cNvPr>
            <p:cNvGrpSpPr/>
            <p:nvPr/>
          </p:nvGrpSpPr>
          <p:grpSpPr>
            <a:xfrm>
              <a:off x="1394682" y="1284460"/>
              <a:ext cx="1296846" cy="1034301"/>
              <a:chOff x="1394682" y="1284460"/>
              <a:chExt cx="1296846" cy="1034301"/>
            </a:xfrm>
            <a:grpFill/>
          </p:grpSpPr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850A122F-7C20-7041-B0CA-BCF11C6F43B7}"/>
                  </a:ext>
                </a:extLst>
              </p:cNvPr>
              <p:cNvSpPr/>
              <p:nvPr/>
            </p:nvSpPr>
            <p:spPr>
              <a:xfrm rot="18900000">
                <a:off x="2360656" y="1284460"/>
                <a:ext cx="330872" cy="8434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2DF797BD-90EE-A949-90B6-59616631106A}"/>
                  </a:ext>
                </a:extLst>
              </p:cNvPr>
              <p:cNvSpPr/>
              <p:nvPr/>
            </p:nvSpPr>
            <p:spPr>
              <a:xfrm rot="18900000">
                <a:off x="1394682" y="2234421"/>
                <a:ext cx="330872" cy="8434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B45DE5C3-9D3F-CF46-973B-B954C845BF01}"/>
                </a:ext>
              </a:extLst>
            </p:cNvPr>
            <p:cNvGrpSpPr/>
            <p:nvPr/>
          </p:nvGrpSpPr>
          <p:grpSpPr>
            <a:xfrm flipH="1">
              <a:off x="1393880" y="1276968"/>
              <a:ext cx="1298448" cy="1033272"/>
              <a:chOff x="1394682" y="1284460"/>
              <a:chExt cx="1296846" cy="1034301"/>
            </a:xfrm>
            <a:grpFill/>
          </p:grpSpPr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F08B426D-77D6-324B-A97C-52740BCB6B40}"/>
                  </a:ext>
                </a:extLst>
              </p:cNvPr>
              <p:cNvSpPr/>
              <p:nvPr/>
            </p:nvSpPr>
            <p:spPr>
              <a:xfrm rot="18900000">
                <a:off x="2360656" y="1284460"/>
                <a:ext cx="330872" cy="8434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395A3CDE-AE38-D54E-B4C0-B6B2449B3132}"/>
                  </a:ext>
                </a:extLst>
              </p:cNvPr>
              <p:cNvSpPr/>
              <p:nvPr/>
            </p:nvSpPr>
            <p:spPr>
              <a:xfrm rot="18900000">
                <a:off x="1394682" y="2234421"/>
                <a:ext cx="330872" cy="8434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9BC10815-25A1-7745-A86A-18777BA09E6B}"/>
                </a:ext>
              </a:extLst>
            </p:cNvPr>
            <p:cNvGrpSpPr/>
            <p:nvPr/>
          </p:nvGrpSpPr>
          <p:grpSpPr>
            <a:xfrm rot="18926824" flipH="1">
              <a:off x="1393880" y="1276968"/>
              <a:ext cx="1298448" cy="1033272"/>
              <a:chOff x="1394682" y="1284460"/>
              <a:chExt cx="1296846" cy="1034301"/>
            </a:xfrm>
            <a:grpFill/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255B8F55-88E0-A449-9ACD-DB3DBB5EE817}"/>
                  </a:ext>
                </a:extLst>
              </p:cNvPr>
              <p:cNvSpPr/>
              <p:nvPr/>
            </p:nvSpPr>
            <p:spPr>
              <a:xfrm rot="18900000">
                <a:off x="2360656" y="1284460"/>
                <a:ext cx="330872" cy="8434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2A90CC07-955A-D247-8972-E2DECAE085B6}"/>
                  </a:ext>
                </a:extLst>
              </p:cNvPr>
              <p:cNvSpPr/>
              <p:nvPr/>
            </p:nvSpPr>
            <p:spPr>
              <a:xfrm rot="18900000">
                <a:off x="1394682" y="2234421"/>
                <a:ext cx="330872" cy="8434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35C8BDDE-DD53-E447-A43D-FFAA58C7F3A2}"/>
                </a:ext>
              </a:extLst>
            </p:cNvPr>
            <p:cNvGrpSpPr/>
            <p:nvPr/>
          </p:nvGrpSpPr>
          <p:grpSpPr>
            <a:xfrm rot="2728193" flipH="1">
              <a:off x="1393881" y="1275836"/>
              <a:ext cx="1298448" cy="1033272"/>
              <a:chOff x="1394682" y="1284460"/>
              <a:chExt cx="1296846" cy="1034301"/>
            </a:xfrm>
            <a:grpFill/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787033A1-AB53-FF43-93C2-46199095FDD9}"/>
                  </a:ext>
                </a:extLst>
              </p:cNvPr>
              <p:cNvSpPr/>
              <p:nvPr/>
            </p:nvSpPr>
            <p:spPr>
              <a:xfrm rot="18900000">
                <a:off x="2360656" y="1284460"/>
                <a:ext cx="330872" cy="8434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2F44784F-192E-D44E-A7AA-BEE9FE9413A4}"/>
                  </a:ext>
                </a:extLst>
              </p:cNvPr>
              <p:cNvSpPr/>
              <p:nvPr/>
            </p:nvSpPr>
            <p:spPr>
              <a:xfrm rot="18900000">
                <a:off x="1394682" y="2234421"/>
                <a:ext cx="330872" cy="8434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1807775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BE7C8AD-9D38-3545-8BE1-CE3261225B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1621" y="172460"/>
            <a:ext cx="5497253" cy="6444747"/>
          </a:xfrm>
          <a:prstGeom prst="rect">
            <a:avLst/>
          </a:prstGeom>
        </p:spPr>
      </p:pic>
      <p:sp>
        <p:nvSpPr>
          <p:cNvPr id="7" name="Left Arrow 6">
            <a:extLst>
              <a:ext uri="{FF2B5EF4-FFF2-40B4-BE49-F238E27FC236}">
                <a16:creationId xmlns:a16="http://schemas.microsoft.com/office/drawing/2014/main" id="{FD10F105-5931-DE48-96DF-CCDA177405CA}"/>
              </a:ext>
            </a:extLst>
          </p:cNvPr>
          <p:cNvSpPr/>
          <p:nvPr/>
        </p:nvSpPr>
        <p:spPr>
          <a:xfrm rot="10800000">
            <a:off x="2154032" y="680440"/>
            <a:ext cx="335280" cy="240792"/>
          </a:xfrm>
          <a:prstGeom prst="leftArrow">
            <a:avLst/>
          </a:prstGeom>
          <a:solidFill>
            <a:srgbClr val="9E160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Left Arrow 7">
            <a:extLst>
              <a:ext uri="{FF2B5EF4-FFF2-40B4-BE49-F238E27FC236}">
                <a16:creationId xmlns:a16="http://schemas.microsoft.com/office/drawing/2014/main" id="{1EBB96BD-015C-C44E-95BD-6E0378455E34}"/>
              </a:ext>
            </a:extLst>
          </p:cNvPr>
          <p:cNvSpPr/>
          <p:nvPr/>
        </p:nvSpPr>
        <p:spPr>
          <a:xfrm rot="10800000">
            <a:off x="2154032" y="6285983"/>
            <a:ext cx="335280" cy="240792"/>
          </a:xfrm>
          <a:prstGeom prst="leftArrow">
            <a:avLst/>
          </a:prstGeom>
          <a:solidFill>
            <a:srgbClr val="9D17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Left Arrow 8">
            <a:extLst>
              <a:ext uri="{FF2B5EF4-FFF2-40B4-BE49-F238E27FC236}">
                <a16:creationId xmlns:a16="http://schemas.microsoft.com/office/drawing/2014/main" id="{4F8098B4-A97F-7F43-A704-1D051632DD69}"/>
              </a:ext>
            </a:extLst>
          </p:cNvPr>
          <p:cNvSpPr/>
          <p:nvPr/>
        </p:nvSpPr>
        <p:spPr>
          <a:xfrm rot="10800000">
            <a:off x="2174128" y="1435741"/>
            <a:ext cx="335280" cy="240792"/>
          </a:xfrm>
          <a:prstGeom prst="leftArrow">
            <a:avLst/>
          </a:prstGeom>
          <a:solidFill>
            <a:srgbClr val="9E160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2C86E2E-669A-B448-B261-79CD769C92D7}"/>
              </a:ext>
            </a:extLst>
          </p:cNvPr>
          <p:cNvSpPr txBox="1"/>
          <p:nvPr/>
        </p:nvSpPr>
        <p:spPr>
          <a:xfrm>
            <a:off x="251699" y="641519"/>
            <a:ext cx="1747429" cy="369332"/>
          </a:xfrm>
          <a:prstGeom prst="rect">
            <a:avLst/>
          </a:prstGeom>
          <a:solidFill>
            <a:srgbClr val="FFFDEE"/>
          </a:solidFill>
          <a:ln w="19050">
            <a:solidFill>
              <a:srgbClr val="9E160D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9D1711"/>
                </a:solidFill>
              </a:rPr>
              <a:t>Code to run SiB4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3CC69AE-DE61-1241-B14B-A366A5EB1C42}"/>
              </a:ext>
            </a:extLst>
          </p:cNvPr>
          <p:cNvSpPr txBox="1"/>
          <p:nvPr/>
        </p:nvSpPr>
        <p:spPr>
          <a:xfrm>
            <a:off x="251699" y="1322178"/>
            <a:ext cx="1747429" cy="923330"/>
          </a:xfrm>
          <a:prstGeom prst="rect">
            <a:avLst/>
          </a:prstGeom>
          <a:solidFill>
            <a:srgbClr val="FFFDEE"/>
          </a:solidFill>
          <a:ln w="19050">
            <a:solidFill>
              <a:srgbClr val="9E160D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9D1711"/>
                </a:solidFill>
              </a:rPr>
              <a:t>Parameter files and diagnostic output choices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B3B49FE-A5EA-534F-ACD7-9EE159C0A603}"/>
              </a:ext>
            </a:extLst>
          </p:cNvPr>
          <p:cNvSpPr txBox="1"/>
          <p:nvPr/>
        </p:nvSpPr>
        <p:spPr>
          <a:xfrm>
            <a:off x="657318" y="6083213"/>
            <a:ext cx="1341810" cy="646331"/>
          </a:xfrm>
          <a:prstGeom prst="rect">
            <a:avLst/>
          </a:prstGeom>
          <a:solidFill>
            <a:srgbClr val="FFFDEE"/>
          </a:solidFill>
          <a:ln w="19050">
            <a:solidFill>
              <a:srgbClr val="9E160D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9D1711"/>
                </a:solidFill>
              </a:rPr>
              <a:t>Content Information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24272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EC6C464-9EC5-8949-982A-03D55A83A8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714612" cy="479434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7400D9C-6AC1-164A-896A-484EF6AF0F4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32454"/>
          <a:stretch/>
        </p:blipFill>
        <p:spPr>
          <a:xfrm>
            <a:off x="2073177" y="3259351"/>
            <a:ext cx="7070823" cy="3598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97615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3813</TotalTime>
  <Words>545</Words>
  <Application>Microsoft Macintosh PowerPoint</Application>
  <PresentationFormat>On-screen Show (4:3)</PresentationFormat>
  <Paragraphs>102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Helvetica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Haynes,Katherine</dc:creator>
  <cp:lastModifiedBy>Haynes,Katherine</cp:lastModifiedBy>
  <cp:revision>25</cp:revision>
  <dcterms:created xsi:type="dcterms:W3CDTF">2018-08-25T01:08:56Z</dcterms:created>
  <dcterms:modified xsi:type="dcterms:W3CDTF">2019-08-18T19:27:48Z</dcterms:modified>
</cp:coreProperties>
</file>